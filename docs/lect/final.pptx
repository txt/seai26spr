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88" r:id="rId8"/>
    <p:sldId id="262" r:id="rId9"/>
    <p:sldId id="263" r:id="rId10"/>
    <p:sldId id="264" r:id="rId11"/>
    <p:sldId id="265" r:id="rId12"/>
    <p:sldId id="266" r:id="rId13"/>
    <p:sldId id="267" r:id="rId14"/>
    <p:sldId id="268" r:id="rId15"/>
    <p:sldId id="289" r:id="rId16"/>
    <p:sldId id="269" r:id="rId17"/>
    <p:sldId id="270" r:id="rId18"/>
    <p:sldId id="290" r:id="rId19"/>
    <p:sldId id="271" r:id="rId20"/>
    <p:sldId id="272" r:id="rId21"/>
    <p:sldId id="273" r:id="rId22"/>
    <p:sldId id="274" r:id="rId23"/>
    <p:sldId id="275" r:id="rId24"/>
    <p:sldId id="291"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8"/>
  </p:normalViewPr>
  <p:slideViewPr>
    <p:cSldViewPr snapToGrid="0">
      <p:cViewPr varScale="1">
        <p:scale>
          <a:sx n="163" d="100"/>
          <a:sy n="163" d="100"/>
        </p:scale>
        <p:origin x="184" y="4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c5886e2885_1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c5886e2885_1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c5886e2885_1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c5886e2885_1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c5886e2885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c5886e2885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e749b6b9d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ce749b6b9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c5886e2885_1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c5886e2885_1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c5886e2885_1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c5886e2885_1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5886e2885_1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c5886e2885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c5886e2885_1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c5886e2885_1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c5886e2885_1_2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c5886e2885_1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5886e2885_1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c5886e2885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c5886e2885_1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c5886e2885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5886e2885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c5886e2885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c5886e2885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c5886e2885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c5886e2885_1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c5886e2885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ce76e89739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ce76e8973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c5886e2885_1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c5886e2885_1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c5886e2885_1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c5886e2885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c5886e2885_1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c5886e2885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c5886e2885_1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c5886e2885_1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c5886e2885_1_2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c5886e2885_1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c5886e2885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3c5886e2885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c5886e2885_1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c5886e2885_1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c5886e2885_1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c5886e2885_1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c5886e2885_1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c5886e2885_1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c5886e2885_1_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c5886e2885_1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c5886e2885_1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c5886e2885_1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c5886e2885_1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c5886e2885_1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c5886e2885_1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c5886e2885_1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c5886e2885_1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c5886e2885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c5886e2885_1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c5886e2885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c5886e2885_1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c5886e2885_1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ce749b6b9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ce749b6b9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imm@ieee.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1383397"/>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Agentic software? </a:t>
            </a:r>
            <a:r>
              <a:rPr lang="en" b="1">
                <a:solidFill>
                  <a:srgbClr val="FF0000"/>
                </a:solidFill>
              </a:rPr>
              <a:t>Sure!</a:t>
            </a:r>
            <a:endParaRPr b="1">
              <a:solidFill>
                <a:srgbClr val="FF0000"/>
              </a:solidFill>
            </a:endParaRPr>
          </a:p>
        </p:txBody>
      </p:sp>
      <p:sp>
        <p:nvSpPr>
          <p:cNvPr id="55" name="Google Shape;55;p13"/>
          <p:cNvSpPr txBox="1">
            <a:spLocks noGrp="1"/>
          </p:cNvSpPr>
          <p:nvPr>
            <p:ph type="subTitle" idx="1"/>
          </p:nvPr>
        </p:nvSpPr>
        <p:spPr>
          <a:xfrm>
            <a:off x="500550" y="3344202"/>
            <a:ext cx="8520600" cy="16719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 sz="4327"/>
              <a:t>All agents LLMs? </a:t>
            </a:r>
            <a:r>
              <a:rPr lang="en" sz="4277" b="1">
                <a:solidFill>
                  <a:srgbClr val="FF0000"/>
                </a:solidFill>
              </a:rPr>
              <a:t>No!</a:t>
            </a:r>
            <a:br>
              <a:rPr lang="en" sz="4277" b="1">
                <a:solidFill>
                  <a:srgbClr val="FF0000"/>
                </a:solidFill>
              </a:rPr>
            </a:br>
            <a:endParaRPr sz="4277" b="1">
              <a:solidFill>
                <a:srgbClr val="FF0000"/>
              </a:solidFill>
            </a:endParaRPr>
          </a:p>
          <a:p>
            <a:pPr marL="0" lvl="0" indent="0" algn="ctr" rtl="0">
              <a:spcBef>
                <a:spcPts val="0"/>
              </a:spcBef>
              <a:spcAft>
                <a:spcPts val="0"/>
              </a:spcAft>
              <a:buNone/>
            </a:pPr>
            <a:r>
              <a:rPr lang="en" sz="2750">
                <a:solidFill>
                  <a:schemeClr val="dk1"/>
                </a:solidFill>
              </a:rPr>
              <a:t>Tim Menzies, ncstate, usa</a:t>
            </a:r>
            <a:br>
              <a:rPr lang="en" sz="2750">
                <a:solidFill>
                  <a:schemeClr val="dk1"/>
                </a:solidFill>
              </a:rPr>
            </a:br>
            <a:r>
              <a:rPr lang="en" sz="2750">
                <a:solidFill>
                  <a:schemeClr val="hlink"/>
                </a:solidFill>
                <a:uFill>
                  <a:noFill/>
                </a:uFill>
                <a:hlinkClick r:id="rId3"/>
              </a:rPr>
              <a:t>timm@ieee.org</a:t>
            </a:r>
            <a:br>
              <a:rPr lang="en" sz="2750">
                <a:solidFill>
                  <a:schemeClr val="dk1"/>
                </a:solidFill>
              </a:rPr>
            </a:br>
            <a:r>
              <a:rPr lang="en" sz="2750">
                <a:solidFill>
                  <a:schemeClr val="dk1"/>
                </a:solidFill>
              </a:rPr>
              <a:t>Mar10 2026</a:t>
            </a:r>
            <a:endParaRPr sz="2750">
              <a:solidFill>
                <a:schemeClr val="dk1"/>
              </a:solidFill>
            </a:endParaRPr>
          </a:p>
        </p:txBody>
      </p:sp>
      <p:pic>
        <p:nvPicPr>
          <p:cNvPr id="56" name="Google Shape;56;p13"/>
          <p:cNvPicPr preferRelativeResize="0"/>
          <p:nvPr/>
        </p:nvPicPr>
        <p:blipFill>
          <a:blip r:embed="rId4">
            <a:alphaModFix/>
          </a:blip>
          <a:stretch>
            <a:fillRect/>
          </a:stretch>
        </p:blipFill>
        <p:spPr>
          <a:xfrm>
            <a:off x="3607539" y="64470"/>
            <a:ext cx="1871311" cy="2497725"/>
          </a:xfrm>
          <a:prstGeom prst="rect">
            <a:avLst/>
          </a:prstGeom>
          <a:noFill/>
          <a:ln>
            <a:noFill/>
          </a:ln>
        </p:spPr>
      </p:pic>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p:nvPr/>
        </p:nvSpPr>
        <p:spPr>
          <a:xfrm>
            <a:off x="-105100" y="-152875"/>
            <a:ext cx="9373200" cy="5570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63;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We have been here before</a:t>
            </a:r>
            <a:endParaRPr>
              <a:solidFill>
                <a:schemeClr val="lt1"/>
              </a:solidFill>
            </a:endParaRPr>
          </a:p>
        </p:txBody>
      </p:sp>
      <p:sp>
        <p:nvSpPr>
          <p:cNvPr id="64" name="Google Shape;64;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lt1"/>
                </a:solidFill>
              </a:rPr>
              <a:t>The 1988 AI Winter</a:t>
            </a:r>
            <a:endParaRPr>
              <a:solidFill>
                <a:schemeClr val="lt1"/>
              </a:solidFill>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a:off x="4267971" y="1699288"/>
            <a:ext cx="3078076" cy="3200801"/>
          </a:xfrm>
          <a:prstGeom prst="rect">
            <a:avLst/>
          </a:prstGeom>
          <a:noFill/>
          <a:ln>
            <a:noFill/>
          </a:ln>
        </p:spPr>
      </p:pic>
      <p:sp>
        <p:nvSpPr>
          <p:cNvPr id="71" name="Google Shape;71;p15"/>
          <p:cNvSpPr txBox="1"/>
          <p:nvPr/>
        </p:nvSpPr>
        <p:spPr>
          <a:xfrm>
            <a:off x="2811932" y="243413"/>
            <a:ext cx="6182700" cy="1311300"/>
          </a:xfrm>
          <a:prstGeom prst="rect">
            <a:avLst/>
          </a:prstGeom>
          <a:noFill/>
          <a:ln>
            <a:noFill/>
          </a:ln>
        </p:spPr>
        <p:txBody>
          <a:bodyPr spcFirstLastPara="1" wrap="square" lIns="91425" tIns="91425" rIns="91425" bIns="91425" anchor="t" anchorCtr="0">
            <a:spAutoFit/>
          </a:bodyPr>
          <a:lstStyle/>
          <a:p>
            <a:pPr marL="0" lvl="0" indent="0" algn="ctr" rtl="0">
              <a:lnSpc>
                <a:spcPct val="80000"/>
              </a:lnSpc>
              <a:spcBef>
                <a:spcPts val="0"/>
              </a:spcBef>
              <a:spcAft>
                <a:spcPts val="0"/>
              </a:spcAft>
              <a:buNone/>
            </a:pPr>
            <a:r>
              <a:rPr lang="en" sz="1830">
                <a:solidFill>
                  <a:schemeClr val="dk1"/>
                </a:solidFill>
              </a:rPr>
              <a:t>Meanwhile…</a:t>
            </a:r>
            <a:endParaRPr sz="1830">
              <a:solidFill>
                <a:schemeClr val="dk1"/>
              </a:solidFill>
            </a:endParaRPr>
          </a:p>
          <a:p>
            <a:pPr marL="0" lvl="0" indent="0" algn="ctr" rtl="0">
              <a:lnSpc>
                <a:spcPct val="80000"/>
              </a:lnSpc>
              <a:spcBef>
                <a:spcPts val="0"/>
              </a:spcBef>
              <a:spcAft>
                <a:spcPts val="0"/>
              </a:spcAft>
              <a:buNone/>
            </a:pPr>
            <a:r>
              <a:rPr lang="en" sz="1830">
                <a:solidFill>
                  <a:schemeClr val="dk1"/>
                </a:solidFill>
              </a:rPr>
              <a:t>An expert system for raising pigs, Menzies et al. 1989</a:t>
            </a:r>
            <a:endParaRPr sz="1830">
              <a:solidFill>
                <a:schemeClr val="dk1"/>
              </a:solidFill>
            </a:endParaRPr>
          </a:p>
          <a:p>
            <a:pPr marL="0" lvl="0" indent="0" algn="ctr" rtl="0">
              <a:lnSpc>
                <a:spcPct val="80000"/>
              </a:lnSpc>
              <a:spcBef>
                <a:spcPts val="0"/>
              </a:spcBef>
              <a:spcAft>
                <a:spcPts val="0"/>
              </a:spcAft>
              <a:buNone/>
            </a:pPr>
            <a:r>
              <a:rPr lang="en" sz="1830" b="1">
                <a:solidFill>
                  <a:srgbClr val="FF0000"/>
                </a:solidFill>
              </a:rPr>
              <a:t>“Raising pigs is big business”</a:t>
            </a:r>
            <a:br>
              <a:rPr lang="en" sz="1830" b="1">
                <a:solidFill>
                  <a:srgbClr val="FF0000"/>
                </a:solidFill>
              </a:rPr>
            </a:br>
            <a:endParaRPr sz="1830" b="1">
              <a:solidFill>
                <a:srgbClr val="FF0000"/>
              </a:solidFill>
            </a:endParaRPr>
          </a:p>
          <a:p>
            <a:pPr marL="0" lvl="0" indent="0" algn="ctr" rtl="0">
              <a:lnSpc>
                <a:spcPct val="80000"/>
              </a:lnSpc>
              <a:spcBef>
                <a:spcPts val="0"/>
              </a:spcBef>
              <a:spcAft>
                <a:spcPts val="0"/>
              </a:spcAft>
              <a:buNone/>
            </a:pPr>
            <a:r>
              <a:rPr lang="en" sz="1830">
                <a:solidFill>
                  <a:schemeClr val="dk1"/>
                </a:solidFill>
              </a:rPr>
              <a:t>Out-performed the humans who wrote its rules</a:t>
            </a:r>
            <a:endParaRPr sz="1830">
              <a:solidFill>
                <a:schemeClr val="dk1"/>
              </a:solidFill>
            </a:endParaRPr>
          </a:p>
        </p:txBody>
      </p:sp>
      <p:pic>
        <p:nvPicPr>
          <p:cNvPr id="72" name="Google Shape;72;p15"/>
          <p:cNvPicPr preferRelativeResize="0"/>
          <p:nvPr/>
        </p:nvPicPr>
        <p:blipFill>
          <a:blip r:embed="rId4">
            <a:alphaModFix/>
          </a:blip>
          <a:stretch>
            <a:fillRect/>
          </a:stretch>
        </p:blipFill>
        <p:spPr>
          <a:xfrm>
            <a:off x="261210" y="1041275"/>
            <a:ext cx="2053201" cy="3778848"/>
          </a:xfrm>
          <a:prstGeom prst="rect">
            <a:avLst/>
          </a:prstGeom>
          <a:noFill/>
          <a:ln>
            <a:noFill/>
          </a:ln>
        </p:spPr>
      </p:pic>
      <p:cxnSp>
        <p:nvCxnSpPr>
          <p:cNvPr id="73" name="Google Shape;73;p15"/>
          <p:cNvCxnSpPr/>
          <p:nvPr/>
        </p:nvCxnSpPr>
        <p:spPr>
          <a:xfrm>
            <a:off x="2760867" y="-301650"/>
            <a:ext cx="0" cy="5746800"/>
          </a:xfrm>
          <a:prstGeom prst="straightConnector1">
            <a:avLst/>
          </a:prstGeom>
          <a:noFill/>
          <a:ln w="9525" cap="flat" cmpd="sng">
            <a:solidFill>
              <a:srgbClr val="FF0000"/>
            </a:solidFill>
            <a:prstDash val="solid"/>
            <a:round/>
            <a:headEnd type="none" w="med" len="med"/>
            <a:tailEnd type="none" w="med" len="med"/>
          </a:ln>
        </p:spPr>
      </p:cxnSp>
      <p:sp>
        <p:nvSpPr>
          <p:cNvPr id="74" name="Google Shape;74;p15"/>
          <p:cNvSpPr txBox="1"/>
          <p:nvPr/>
        </p:nvSpPr>
        <p:spPr>
          <a:xfrm>
            <a:off x="409375" y="222250"/>
            <a:ext cx="2053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1980s AI winter</a:t>
            </a:r>
            <a:endParaRPr sz="1800">
              <a:solidFill>
                <a:schemeClr val="dk2"/>
              </a:solidFill>
            </a:endParaRPr>
          </a:p>
        </p:txBody>
      </p:sp>
      <p:sp>
        <p:nvSpPr>
          <p:cNvPr id="75" name="Google Shape;7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81" name="Google Shape;81;p16"/>
          <p:cNvPicPr preferRelativeResize="0"/>
          <p:nvPr/>
        </p:nvPicPr>
        <p:blipFill>
          <a:blip r:embed="rId3">
            <a:alphaModFix/>
          </a:blip>
          <a:stretch>
            <a:fillRect/>
          </a:stretch>
        </p:blipFill>
        <p:spPr>
          <a:xfrm>
            <a:off x="183625" y="764325"/>
            <a:ext cx="8648673" cy="3614875"/>
          </a:xfrm>
          <a:prstGeom prst="rect">
            <a:avLst/>
          </a:prstGeom>
          <a:noFill/>
          <a:ln>
            <a:noFill/>
          </a:ln>
        </p:spPr>
      </p:pic>
      <p:sp>
        <p:nvSpPr>
          <p:cNvPr id="82" name="Google Shape;8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p:nvPr/>
        </p:nvSpPr>
        <p:spPr>
          <a:xfrm>
            <a:off x="-105100" y="-152875"/>
            <a:ext cx="9373200" cy="5570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 name="Google Shape;88;p1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I believe LLMs </a:t>
            </a:r>
            <a:br>
              <a:rPr lang="en">
                <a:solidFill>
                  <a:schemeClr val="lt1"/>
                </a:solidFill>
              </a:rPr>
            </a:br>
            <a:r>
              <a:rPr lang="en">
                <a:solidFill>
                  <a:schemeClr val="lt1"/>
                </a:solidFill>
              </a:rPr>
              <a:t>are cool</a:t>
            </a:r>
            <a:endParaRPr>
              <a:solidFill>
                <a:schemeClr val="lt1"/>
              </a:solidFill>
            </a:endParaRPr>
          </a:p>
        </p:txBody>
      </p:sp>
      <p:sp>
        <p:nvSpPr>
          <p:cNvPr id="89" name="Google Shape;89;p17"/>
          <p:cNvSpPr txBox="1">
            <a:spLocks noGrp="1"/>
          </p:cNvSpPr>
          <p:nvPr>
            <p:ph type="subTitle" idx="1"/>
          </p:nvPr>
        </p:nvSpPr>
        <p:spPr>
          <a:xfrm>
            <a:off x="321200" y="38087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a:solidFill>
                  <a:schemeClr val="lt1"/>
                </a:solidFill>
              </a:rPr>
              <a:t>Requirements engineering </a:t>
            </a:r>
            <a:endParaRPr>
              <a:solidFill>
                <a:schemeClr val="lt1"/>
              </a:solidFill>
            </a:endParaRPr>
          </a:p>
          <a:p>
            <a:pPr marL="0" lvl="0" indent="0" algn="ctr" rtl="0">
              <a:spcBef>
                <a:spcPts val="0"/>
              </a:spcBef>
              <a:spcAft>
                <a:spcPts val="0"/>
              </a:spcAft>
              <a:buNone/>
            </a:pPr>
            <a:r>
              <a:rPr lang="en">
                <a:solidFill>
                  <a:schemeClr val="lt1"/>
                </a:solidFill>
              </a:rPr>
              <a:t>Optimization</a:t>
            </a:r>
            <a:endParaRPr>
              <a:solidFill>
                <a:schemeClr val="lt1"/>
              </a:solidFill>
            </a:endParaRPr>
          </a:p>
        </p:txBody>
      </p:sp>
      <p:sp>
        <p:nvSpPr>
          <p:cNvPr id="90" name="Google Shape;9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8"/>
          <p:cNvPicPr preferRelativeResize="0"/>
          <p:nvPr/>
        </p:nvPicPr>
        <p:blipFill>
          <a:blip r:embed="rId3">
            <a:alphaModFix/>
          </a:blip>
          <a:stretch>
            <a:fillRect/>
          </a:stretch>
        </p:blipFill>
        <p:spPr>
          <a:xfrm>
            <a:off x="376675" y="867641"/>
            <a:ext cx="8390652" cy="3704450"/>
          </a:xfrm>
          <a:prstGeom prst="rect">
            <a:avLst/>
          </a:prstGeom>
          <a:noFill/>
          <a:ln>
            <a:noFill/>
          </a:ln>
        </p:spPr>
      </p:pic>
      <p:sp>
        <p:nvSpPr>
          <p:cNvPr id="96" name="Google Shape;96;p18"/>
          <p:cNvSpPr txBox="1"/>
          <p:nvPr/>
        </p:nvSpPr>
        <p:spPr>
          <a:xfrm>
            <a:off x="1614775" y="124225"/>
            <a:ext cx="60291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rgbClr val="FF0000"/>
                </a:solidFill>
              </a:rPr>
              <a:t>EMSE’26, to appear</a:t>
            </a:r>
            <a:endParaRPr sz="1800" b="1">
              <a:solidFill>
                <a:srgbClr val="FF0000"/>
              </a:solidFill>
            </a:endParaRPr>
          </a:p>
        </p:txBody>
      </p:sp>
      <p:sp>
        <p:nvSpPr>
          <p:cNvPr id="97" name="Google Shape;9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Box 2"/>
          <p:cNvSpPr txBox="1"/>
          <p:nvPr/>
        </p:nvSpPr>
        <p:spPr>
          <a:xfrm>
            <a:off x="365760" y="182880"/>
            <a:ext cx="8412480" cy="640080"/>
          </a:xfrm>
          <a:prstGeom prst="rect">
            <a:avLst/>
          </a:prstGeom>
          <a:noFill/>
        </p:spPr>
        <p:txBody>
          <a:bodyPr wrap="square" anchor="t">
            <a:spAutoFit/>
          </a:bodyPr>
          <a:lstStyle/>
          <a:p>
            <a:pPr algn="ctr"/>
            <a:r>
              <a:rPr sz="3200" b="1">
                <a:solidFill>
                  <a:srgbClr val="CC0000"/>
                </a:solidFill>
              </a:rPr>
              <a:t>SynthCore: diversity beats correctness</a:t>
            </a:r>
          </a:p>
        </p:txBody>
      </p:sp>
      <p:sp>
        <p:nvSpPr>
          <p:cNvPr id="4" name="Rounded Rectangle 3"/>
          <p:cNvSpPr/>
          <p:nvPr/>
        </p:nvSpPr>
        <p:spPr>
          <a:xfrm>
            <a:off x="274320" y="1463040"/>
            <a:ext cx="1371600" cy="73152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000000"/>
                </a:solidFill>
              </a:rPr>
              <a:t>SE task</a:t>
            </a:r>
          </a:p>
        </p:txBody>
      </p:sp>
      <p:sp>
        <p:nvSpPr>
          <p:cNvPr id="5" name="Rounded Rectangle 4"/>
          <p:cNvSpPr/>
          <p:nvPr/>
        </p:nvSpPr>
        <p:spPr>
          <a:xfrm>
            <a:off x="2103120" y="1005840"/>
            <a:ext cx="146304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prompt 1</a:t>
            </a:r>
          </a:p>
        </p:txBody>
      </p:sp>
      <p:sp>
        <p:nvSpPr>
          <p:cNvPr id="6" name="Rounded Rectangle 5"/>
          <p:cNvSpPr/>
          <p:nvPr/>
        </p:nvSpPr>
        <p:spPr>
          <a:xfrm>
            <a:off x="2103120" y="1600200"/>
            <a:ext cx="146304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prompt 2</a:t>
            </a:r>
          </a:p>
        </p:txBody>
      </p:sp>
      <p:sp>
        <p:nvSpPr>
          <p:cNvPr id="7" name="Rounded Rectangle 6"/>
          <p:cNvSpPr/>
          <p:nvPr/>
        </p:nvSpPr>
        <p:spPr>
          <a:xfrm>
            <a:off x="2103120" y="2194560"/>
            <a:ext cx="146304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a:t>
            </a:r>
          </a:p>
        </p:txBody>
      </p:sp>
      <p:sp>
        <p:nvSpPr>
          <p:cNvPr id="8" name="Rounded Rectangle 7"/>
          <p:cNvSpPr/>
          <p:nvPr/>
        </p:nvSpPr>
        <p:spPr>
          <a:xfrm>
            <a:off x="2103120" y="2788920"/>
            <a:ext cx="146304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prompt 19</a:t>
            </a:r>
          </a:p>
        </p:txBody>
      </p:sp>
      <p:sp>
        <p:nvSpPr>
          <p:cNvPr id="9" name="Rounded Rectangle 8"/>
          <p:cNvSpPr/>
          <p:nvPr/>
        </p:nvSpPr>
        <p:spPr>
          <a:xfrm>
            <a:off x="2103120" y="3383280"/>
            <a:ext cx="146304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prompt 20</a:t>
            </a:r>
          </a:p>
        </p:txBody>
      </p:sp>
      <p:sp>
        <p:nvSpPr>
          <p:cNvPr id="10" name="TextBox 9"/>
          <p:cNvSpPr txBox="1"/>
          <p:nvPr/>
        </p:nvSpPr>
        <p:spPr>
          <a:xfrm>
            <a:off x="2103120" y="4114800"/>
            <a:ext cx="1645920" cy="274320"/>
          </a:xfrm>
          <a:prstGeom prst="rect">
            <a:avLst/>
          </a:prstGeom>
          <a:noFill/>
        </p:spPr>
        <p:txBody>
          <a:bodyPr wrap="square" anchor="t">
            <a:spAutoFit/>
          </a:bodyPr>
          <a:lstStyle/>
          <a:p>
            <a:pPr algn="ctr"/>
            <a:r>
              <a:rPr sz="1100" b="0">
                <a:solidFill>
                  <a:srgbClr val="555555"/>
                </a:solidFill>
              </a:rPr>
              <a:t>each varies context</a:t>
            </a:r>
          </a:p>
        </p:txBody>
      </p:sp>
      <p:sp>
        <p:nvSpPr>
          <p:cNvPr id="11" name="Rounded Rectangle 10"/>
          <p:cNvSpPr/>
          <p:nvPr/>
        </p:nvSpPr>
        <p:spPr>
          <a:xfrm>
            <a:off x="3931920" y="1005840"/>
            <a:ext cx="118872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ans 1</a:t>
            </a:r>
          </a:p>
        </p:txBody>
      </p:sp>
      <p:sp>
        <p:nvSpPr>
          <p:cNvPr id="12" name="Rounded Rectangle 11"/>
          <p:cNvSpPr/>
          <p:nvPr/>
        </p:nvSpPr>
        <p:spPr>
          <a:xfrm>
            <a:off x="3931920" y="1600200"/>
            <a:ext cx="118872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ans 2</a:t>
            </a:r>
          </a:p>
        </p:txBody>
      </p:sp>
      <p:sp>
        <p:nvSpPr>
          <p:cNvPr id="13" name="Rounded Rectangle 12"/>
          <p:cNvSpPr/>
          <p:nvPr/>
        </p:nvSpPr>
        <p:spPr>
          <a:xfrm>
            <a:off x="3931920" y="2194560"/>
            <a:ext cx="118872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a:t>
            </a:r>
          </a:p>
        </p:txBody>
      </p:sp>
      <p:sp>
        <p:nvSpPr>
          <p:cNvPr id="14" name="Rounded Rectangle 13"/>
          <p:cNvSpPr/>
          <p:nvPr/>
        </p:nvSpPr>
        <p:spPr>
          <a:xfrm>
            <a:off x="3931920" y="2788920"/>
            <a:ext cx="118872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ans 19</a:t>
            </a:r>
          </a:p>
        </p:txBody>
      </p:sp>
      <p:sp>
        <p:nvSpPr>
          <p:cNvPr id="15" name="Rounded Rectangle 14"/>
          <p:cNvSpPr/>
          <p:nvPr/>
        </p:nvSpPr>
        <p:spPr>
          <a:xfrm>
            <a:off x="3931920" y="3383280"/>
            <a:ext cx="1188720" cy="41148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0">
                <a:solidFill>
                  <a:srgbClr val="000000"/>
                </a:solidFill>
              </a:rPr>
              <a:t>ans 20</a:t>
            </a:r>
          </a:p>
        </p:txBody>
      </p:sp>
      <p:sp>
        <p:nvSpPr>
          <p:cNvPr id="16" name="Rounded Rectangle 15"/>
          <p:cNvSpPr/>
          <p:nvPr/>
        </p:nvSpPr>
        <p:spPr>
          <a:xfrm>
            <a:off x="5669280" y="2103120"/>
            <a:ext cx="1554480" cy="91440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300" b="1">
                <a:solidFill>
                  <a:srgbClr val="000000"/>
                </a:solidFill>
              </a:rPr>
              <a:t>Aggregate
(vote / weighted)</a:t>
            </a:r>
          </a:p>
        </p:txBody>
      </p:sp>
      <p:sp>
        <p:nvSpPr>
          <p:cNvPr id="17" name="Rounded Rectangle 16"/>
          <p:cNvSpPr/>
          <p:nvPr/>
        </p:nvSpPr>
        <p:spPr>
          <a:xfrm>
            <a:off x="7498079" y="2286000"/>
            <a:ext cx="1371600" cy="54864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500" b="1">
                <a:solidFill>
                  <a:srgbClr val="000000"/>
                </a:solidFill>
              </a:rPr>
              <a:t>answer</a:t>
            </a:r>
          </a:p>
        </p:txBody>
      </p:sp>
      <p:cxnSp>
        <p:nvCxnSpPr>
          <p:cNvPr id="18" name="Connector 17"/>
          <p:cNvCxnSpPr/>
          <p:nvPr/>
        </p:nvCxnSpPr>
        <p:spPr>
          <a:xfrm flipH="1" flipV="1">
            <a:off x="457200" y="0"/>
            <a:ext cx="1188720" cy="182880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365760" y="0"/>
            <a:ext cx="3200400" cy="182880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548640" y="640080"/>
            <a:ext cx="4572000" cy="118872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274319" y="0"/>
            <a:ext cx="6949441" cy="256032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5760" y="4572000"/>
            <a:ext cx="8412480" cy="457200"/>
          </a:xfrm>
          <a:prstGeom prst="rect">
            <a:avLst/>
          </a:prstGeom>
          <a:noFill/>
        </p:spPr>
        <p:txBody>
          <a:bodyPr wrap="square" anchor="t">
            <a:spAutoFit/>
          </a:bodyPr>
          <a:lstStyle/>
          <a:p>
            <a:pPr algn="ctr"/>
            <a:r>
              <a:rPr sz="1600" b="1">
                <a:solidFill>
                  <a:srgbClr val="CC0000"/>
                </a:solidFill>
              </a:rPr>
              <a:t>Each prompt is wrong in a different way. The ensemble covers the fertile region.</a:t>
            </a:r>
          </a:p>
        </p:txBody>
      </p:sp>
      <p:sp>
        <p:nvSpPr>
          <p:cNvPr id="23" name="TextBox 22"/>
          <p:cNvSpPr txBox="1"/>
          <p:nvPr/>
        </p:nvSpPr>
        <p:spPr>
          <a:xfrm>
            <a:off x="365760" y="5029200"/>
            <a:ext cx="8412480" cy="365760"/>
          </a:xfrm>
          <a:prstGeom prst="rect">
            <a:avLst/>
          </a:prstGeom>
          <a:noFill/>
        </p:spPr>
        <p:txBody>
          <a:bodyPr wrap="square" anchor="t">
            <a:spAutoFit/>
          </a:bodyPr>
          <a:lstStyle/>
          <a:p>
            <a:pPr algn="ctr"/>
            <a:r>
              <a:rPr sz="1200" b="0">
                <a:solidFill>
                  <a:srgbClr val="555555"/>
                </a:solidFill>
              </a:rPr>
              <a:t>Beats GP, TPE, adaptive active learners on 49 MOO tasks   (Senthilkumar &amp; Menzies, EMSE'26)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1254074" y="959150"/>
            <a:ext cx="6455849" cy="3419775"/>
          </a:xfrm>
          <a:prstGeom prst="rect">
            <a:avLst/>
          </a:prstGeom>
          <a:noFill/>
          <a:ln>
            <a:noFill/>
          </a:ln>
        </p:spPr>
      </p:pic>
      <p:sp>
        <p:nvSpPr>
          <p:cNvPr id="103" name="Google Shape;103;p19"/>
          <p:cNvSpPr txBox="1"/>
          <p:nvPr/>
        </p:nvSpPr>
        <p:spPr>
          <a:xfrm>
            <a:off x="0" y="4404600"/>
            <a:ext cx="8964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LLM-based ideation for requirements engineering: </a:t>
            </a:r>
            <a:br>
              <a:rPr lang="en" sz="1800" b="1">
                <a:solidFill>
                  <a:srgbClr val="FF0000"/>
                </a:solidFill>
              </a:rPr>
            </a:br>
            <a:r>
              <a:rPr lang="en" sz="1800" b="1">
                <a:solidFill>
                  <a:srgbClr val="FF0000"/>
                </a:solidFill>
              </a:rPr>
              <a:t>1) defined “good”; (2) score projects on “good”; (3) prompt “how to be better”?</a:t>
            </a:r>
            <a:endParaRPr sz="1800" b="1">
              <a:solidFill>
                <a:srgbClr val="FF0000"/>
              </a:solidFill>
            </a:endParaRPr>
          </a:p>
        </p:txBody>
      </p:sp>
      <p:sp>
        <p:nvSpPr>
          <p:cNvPr id="104" name="Google Shape;104;p19"/>
          <p:cNvSpPr txBox="1"/>
          <p:nvPr/>
        </p:nvSpPr>
        <p:spPr>
          <a:xfrm>
            <a:off x="211650" y="158750"/>
            <a:ext cx="87207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FF0000"/>
                </a:solidFill>
              </a:rPr>
              <a:t>"RE education is at best an afterthought in many </a:t>
            </a:r>
            <a:br>
              <a:rPr lang="en" sz="2000" b="1">
                <a:solidFill>
                  <a:srgbClr val="FF0000"/>
                </a:solidFill>
              </a:rPr>
            </a:br>
            <a:r>
              <a:rPr lang="en" sz="2000" b="1">
                <a:solidFill>
                  <a:srgbClr val="FF0000"/>
                </a:solidFill>
              </a:rPr>
              <a:t>university software engineering curricula."</a:t>
            </a:r>
            <a:endParaRPr sz="2000" b="1">
              <a:solidFill>
                <a:srgbClr val="FF0000"/>
              </a:solidFill>
            </a:endParaRPr>
          </a:p>
        </p:txBody>
      </p:sp>
      <p:sp>
        <p:nvSpPr>
          <p:cNvPr id="105" name="Google Shape;10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0"/>
          <p:cNvPicPr preferRelativeResize="0"/>
          <p:nvPr/>
        </p:nvPicPr>
        <p:blipFill>
          <a:blip r:embed="rId3">
            <a:alphaModFix/>
          </a:blip>
          <a:stretch>
            <a:fillRect/>
          </a:stretch>
        </p:blipFill>
        <p:spPr>
          <a:xfrm>
            <a:off x="-8" y="1101200"/>
            <a:ext cx="5254125" cy="3311684"/>
          </a:xfrm>
          <a:prstGeom prst="rect">
            <a:avLst/>
          </a:prstGeom>
          <a:noFill/>
          <a:ln>
            <a:noFill/>
          </a:ln>
        </p:spPr>
      </p:pic>
      <p:pic>
        <p:nvPicPr>
          <p:cNvPr id="111" name="Google Shape;111;p20"/>
          <p:cNvPicPr preferRelativeResize="0"/>
          <p:nvPr/>
        </p:nvPicPr>
        <p:blipFill>
          <a:blip r:embed="rId4">
            <a:alphaModFix/>
          </a:blip>
          <a:stretch>
            <a:fillRect/>
          </a:stretch>
        </p:blipFill>
        <p:spPr>
          <a:xfrm>
            <a:off x="5450575" y="364050"/>
            <a:ext cx="3640501" cy="4390968"/>
          </a:xfrm>
          <a:prstGeom prst="rect">
            <a:avLst/>
          </a:prstGeom>
          <a:noFill/>
          <a:ln>
            <a:noFill/>
          </a:ln>
        </p:spPr>
      </p:pic>
      <p:sp>
        <p:nvSpPr>
          <p:cNvPr id="112" name="Google Shape;112;p20"/>
          <p:cNvSpPr txBox="1"/>
          <p:nvPr/>
        </p:nvSpPr>
        <p:spPr>
          <a:xfrm>
            <a:off x="275175" y="194700"/>
            <a:ext cx="5503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Effects of LLM-based ideation:</a:t>
            </a:r>
            <a:br>
              <a:rPr lang="en" sz="1800" b="1">
                <a:solidFill>
                  <a:srgbClr val="FF0000"/>
                </a:solidFill>
              </a:rPr>
            </a:br>
            <a:r>
              <a:rPr lang="en" sz="1800" b="1">
                <a:solidFill>
                  <a:srgbClr val="FF0000"/>
                </a:solidFill>
              </a:rPr>
              <a:t>35 grad student projects</a:t>
            </a:r>
            <a:endParaRPr sz="1800" b="1">
              <a:solidFill>
                <a:srgbClr val="FF0000"/>
              </a:solidFill>
            </a:endParaRPr>
          </a:p>
        </p:txBody>
      </p:sp>
      <p:sp>
        <p:nvSpPr>
          <p:cNvPr id="113" name="Google Shape;113;p20"/>
          <p:cNvSpPr txBox="1"/>
          <p:nvPr/>
        </p:nvSpPr>
        <p:spPr>
          <a:xfrm>
            <a:off x="-52925" y="4580475"/>
            <a:ext cx="571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Also: portofolio-level recommendations for CTOs</a:t>
            </a:r>
            <a:endParaRPr sz="1800" b="1">
              <a:solidFill>
                <a:srgbClr val="FF0000"/>
              </a:solidFill>
            </a:endParaRPr>
          </a:p>
        </p:txBody>
      </p:sp>
      <p:sp>
        <p:nvSpPr>
          <p:cNvPr id="114" name="Google Shape;11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p:nvPr/>
        </p:nvSpPr>
        <p:spPr>
          <a:xfrm>
            <a:off x="-105100" y="-152875"/>
            <a:ext cx="9373200" cy="5570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2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Large scale studies </a:t>
            </a:r>
            <a:br>
              <a:rPr lang="en">
                <a:solidFill>
                  <a:schemeClr val="lt1"/>
                </a:solidFill>
              </a:rPr>
            </a:br>
            <a:r>
              <a:rPr lang="en">
                <a:solidFill>
                  <a:schemeClr val="lt1"/>
                </a:solidFill>
              </a:rPr>
              <a:t>of AI in SE</a:t>
            </a:r>
            <a:endParaRPr>
              <a:solidFill>
                <a:schemeClr val="lt1"/>
              </a:solidFill>
            </a:endParaRPr>
          </a:p>
        </p:txBody>
      </p:sp>
      <p:sp>
        <p:nvSpPr>
          <p:cNvPr id="121" name="Google Shape;121;p21"/>
          <p:cNvSpPr txBox="1">
            <a:spLocks noGrp="1"/>
          </p:cNvSpPr>
          <p:nvPr>
            <p:ph type="subTitle" idx="1"/>
          </p:nvPr>
        </p:nvSpPr>
        <p:spPr>
          <a:xfrm>
            <a:off x="321200" y="38087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a:solidFill>
                  <a:schemeClr val="lt1"/>
                </a:solidFill>
              </a:rPr>
              <a:t>MOOT repository:</a:t>
            </a:r>
            <a:br>
              <a:rPr lang="en">
                <a:solidFill>
                  <a:schemeClr val="lt1"/>
                </a:solidFill>
              </a:rPr>
            </a:br>
            <a:r>
              <a:rPr lang="en">
                <a:solidFill>
                  <a:schemeClr val="lt1"/>
                </a:solidFill>
              </a:rPr>
              <a:t>MSR’26, to appear</a:t>
            </a:r>
            <a:endParaRPr>
              <a:solidFill>
                <a:schemeClr val="lt1"/>
              </a:solidFill>
            </a:endParaRPr>
          </a:p>
        </p:txBody>
      </p:sp>
      <p:sp>
        <p:nvSpPr>
          <p:cNvPr id="122" name="Google Shape;12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subTitle" idx="1"/>
          </p:nvPr>
        </p:nvSpPr>
        <p:spPr>
          <a:xfrm>
            <a:off x="373875" y="52917"/>
            <a:ext cx="8520600" cy="5292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523"/>
              <a:buNone/>
            </a:pPr>
            <a:r>
              <a:rPr lang="en" sz="2130">
                <a:solidFill>
                  <a:schemeClr val="dk1"/>
                </a:solidFill>
              </a:rPr>
              <a:t>MOOT= 120+ multi-objective optimization tasks</a:t>
            </a:r>
            <a:br>
              <a:rPr lang="en" sz="2130">
                <a:solidFill>
                  <a:schemeClr val="dk1"/>
                </a:solidFill>
              </a:rPr>
            </a:br>
            <a:r>
              <a:rPr lang="en" sz="2130" b="1">
                <a:solidFill>
                  <a:srgbClr val="FF0000"/>
                </a:solidFill>
              </a:rPr>
              <a:t>http://github.com/timm/moot</a:t>
            </a:r>
            <a:endParaRPr sz="2130" b="1">
              <a:solidFill>
                <a:srgbClr val="FF0000"/>
              </a:solidFill>
            </a:endParaRPr>
          </a:p>
        </p:txBody>
      </p:sp>
      <p:pic>
        <p:nvPicPr>
          <p:cNvPr id="128" name="Google Shape;128;p22"/>
          <p:cNvPicPr preferRelativeResize="0"/>
          <p:nvPr/>
        </p:nvPicPr>
        <p:blipFill>
          <a:blip r:embed="rId3">
            <a:alphaModFix/>
          </a:blip>
          <a:stretch>
            <a:fillRect/>
          </a:stretch>
        </p:blipFill>
        <p:spPr>
          <a:xfrm>
            <a:off x="1507058" y="865750"/>
            <a:ext cx="5927177" cy="4256583"/>
          </a:xfrm>
          <a:prstGeom prst="rect">
            <a:avLst/>
          </a:prstGeom>
          <a:noFill/>
          <a:ln>
            <a:noFill/>
          </a:ln>
        </p:spPr>
      </p:pic>
      <p:sp>
        <p:nvSpPr>
          <p:cNvPr id="129" name="Google Shape;12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285758" y="74384"/>
            <a:ext cx="7765079" cy="5016201"/>
          </a:xfrm>
          <a:prstGeom prst="rect">
            <a:avLst/>
          </a:prstGeom>
          <a:noFill/>
          <a:ln>
            <a:noFill/>
          </a:ln>
        </p:spPr>
      </p:pic>
      <p:sp>
        <p:nvSpPr>
          <p:cNvPr id="135" name="Google Shape;135;p23"/>
          <p:cNvSpPr/>
          <p:nvPr/>
        </p:nvSpPr>
        <p:spPr>
          <a:xfrm>
            <a:off x="2667017" y="31758"/>
            <a:ext cx="2815212" cy="3160845"/>
          </a:xfrm>
          <a:custGeom>
            <a:avLst/>
            <a:gdLst/>
            <a:ahLst/>
            <a:cxnLst/>
            <a:rect l="l" t="t" r="r" b="b"/>
            <a:pathLst>
              <a:path w="97001" h="121770" extrusionOk="0">
                <a:moveTo>
                  <a:pt x="12276" y="2105"/>
                </a:moveTo>
                <a:cubicBezTo>
                  <a:pt x="5272" y="6776"/>
                  <a:pt x="7736" y="18354"/>
                  <a:pt x="6350" y="26658"/>
                </a:cubicBezTo>
                <a:cubicBezTo>
                  <a:pt x="4143" y="39881"/>
                  <a:pt x="5134" y="53525"/>
                  <a:pt x="6350" y="66875"/>
                </a:cubicBezTo>
                <a:cubicBezTo>
                  <a:pt x="7645" y="81094"/>
                  <a:pt x="6868" y="95499"/>
                  <a:pt x="8890" y="109632"/>
                </a:cubicBezTo>
                <a:cubicBezTo>
                  <a:pt x="9376" y="113031"/>
                  <a:pt x="7727" y="117887"/>
                  <a:pt x="10583" y="119792"/>
                </a:cubicBezTo>
                <a:cubicBezTo>
                  <a:pt x="19947" y="126037"/>
                  <a:pt x="32771" y="115135"/>
                  <a:pt x="44026" y="115135"/>
                </a:cubicBezTo>
                <a:cubicBezTo>
                  <a:pt x="59410" y="115135"/>
                  <a:pt x="77864" y="123520"/>
                  <a:pt x="90170" y="114288"/>
                </a:cubicBezTo>
                <a:cubicBezTo>
                  <a:pt x="92565" y="112492"/>
                  <a:pt x="95932" y="110873"/>
                  <a:pt x="96520" y="107938"/>
                </a:cubicBezTo>
                <a:cubicBezTo>
                  <a:pt x="98170" y="99700"/>
                  <a:pt x="94320" y="91279"/>
                  <a:pt x="93133" y="82962"/>
                </a:cubicBezTo>
                <a:cubicBezTo>
                  <a:pt x="91515" y="71625"/>
                  <a:pt x="92283" y="60054"/>
                  <a:pt x="91016" y="48672"/>
                </a:cubicBezTo>
                <a:cubicBezTo>
                  <a:pt x="89764" y="37421"/>
                  <a:pt x="93556" y="26126"/>
                  <a:pt x="93556" y="14805"/>
                </a:cubicBezTo>
                <a:cubicBezTo>
                  <a:pt x="93556" y="11314"/>
                  <a:pt x="93809" y="6740"/>
                  <a:pt x="91016" y="4645"/>
                </a:cubicBezTo>
                <a:cubicBezTo>
                  <a:pt x="82825" y="-1499"/>
                  <a:pt x="70745" y="50"/>
                  <a:pt x="60536" y="835"/>
                </a:cubicBezTo>
                <a:cubicBezTo>
                  <a:pt x="40306" y="2390"/>
                  <a:pt x="20289" y="7185"/>
                  <a:pt x="0" y="7185"/>
                </a:cubicBezTo>
              </a:path>
            </a:pathLst>
          </a:custGeom>
          <a:noFill/>
          <a:ln w="38100" cap="flat" cmpd="sng">
            <a:solidFill>
              <a:srgbClr val="FF0000"/>
            </a:solidFill>
            <a:prstDash val="solid"/>
            <a:round/>
            <a:headEnd type="none" w="med" len="med"/>
            <a:tailEnd type="none" w="med" len="med"/>
          </a:ln>
        </p:spPr>
        <p:txBody>
          <a:bodyPr/>
          <a:lstStyle/>
          <a:p>
            <a:endParaRPr lang="en-US"/>
          </a:p>
        </p:txBody>
      </p:sp>
      <p:sp>
        <p:nvSpPr>
          <p:cNvPr id="136" name="Google Shape;136;p23"/>
          <p:cNvSpPr txBox="1"/>
          <p:nvPr/>
        </p:nvSpPr>
        <p:spPr>
          <a:xfrm>
            <a:off x="317490" y="4042850"/>
            <a:ext cx="2317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My “Pandas” learner: 50 loc</a:t>
            </a:r>
            <a:endParaRPr sz="1800" b="1">
              <a:solidFill>
                <a:srgbClr val="FF0000"/>
              </a:solidFill>
            </a:endParaRPr>
          </a:p>
        </p:txBody>
      </p:sp>
      <p:cxnSp>
        <p:nvCxnSpPr>
          <p:cNvPr id="137" name="Google Shape;137;p23"/>
          <p:cNvCxnSpPr/>
          <p:nvPr/>
        </p:nvCxnSpPr>
        <p:spPr>
          <a:xfrm rot="10800000" flipH="1">
            <a:off x="3418417" y="3069133"/>
            <a:ext cx="381000" cy="529200"/>
          </a:xfrm>
          <a:prstGeom prst="straightConnector1">
            <a:avLst/>
          </a:prstGeom>
          <a:noFill/>
          <a:ln w="38100" cap="flat" cmpd="sng">
            <a:solidFill>
              <a:srgbClr val="FF0000"/>
            </a:solidFill>
            <a:prstDash val="solid"/>
            <a:round/>
            <a:headEnd type="none" w="med" len="med"/>
            <a:tailEnd type="triangle" w="med" len="med"/>
          </a:ln>
        </p:spPr>
      </p:cxnSp>
      <p:sp>
        <p:nvSpPr>
          <p:cNvPr id="138" name="Google Shape;138;p23"/>
          <p:cNvSpPr txBox="1"/>
          <p:nvPr/>
        </p:nvSpPr>
        <p:spPr>
          <a:xfrm>
            <a:off x="3158067" y="3687233"/>
            <a:ext cx="1852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Tree learner:</a:t>
            </a:r>
            <a:endParaRPr sz="1800" b="1">
              <a:solidFill>
                <a:srgbClr val="FF0000"/>
              </a:solidFill>
            </a:endParaRPr>
          </a:p>
          <a:p>
            <a:pPr marL="0" lvl="0" indent="0" algn="l" rtl="0">
              <a:spcBef>
                <a:spcPts val="0"/>
              </a:spcBef>
              <a:spcAft>
                <a:spcPts val="0"/>
              </a:spcAft>
              <a:buNone/>
            </a:pPr>
            <a:r>
              <a:rPr lang="en" sz="1800" b="1">
                <a:solidFill>
                  <a:srgbClr val="FF0000"/>
                </a:solidFill>
              </a:rPr>
              <a:t>40 loc</a:t>
            </a:r>
            <a:endParaRPr sz="1800" b="1">
              <a:solidFill>
                <a:srgbClr val="FF0000"/>
              </a:solidFill>
            </a:endParaRPr>
          </a:p>
        </p:txBody>
      </p:sp>
      <p:cxnSp>
        <p:nvCxnSpPr>
          <p:cNvPr id="139" name="Google Shape;139;p23"/>
          <p:cNvCxnSpPr/>
          <p:nvPr/>
        </p:nvCxnSpPr>
        <p:spPr>
          <a:xfrm rot="10800000" flipH="1">
            <a:off x="772583" y="3704225"/>
            <a:ext cx="306900" cy="465600"/>
          </a:xfrm>
          <a:prstGeom prst="straightConnector1">
            <a:avLst/>
          </a:prstGeom>
          <a:noFill/>
          <a:ln w="38100" cap="flat" cmpd="sng">
            <a:solidFill>
              <a:srgbClr val="FF0000"/>
            </a:solidFill>
            <a:prstDash val="solid"/>
            <a:round/>
            <a:headEnd type="none" w="med" len="med"/>
            <a:tailEnd type="triangle" w="med" len="med"/>
          </a:ln>
        </p:spPr>
      </p:cxnSp>
      <p:sp>
        <p:nvSpPr>
          <p:cNvPr id="140" name="Google Shape;140;p23"/>
          <p:cNvSpPr/>
          <p:nvPr/>
        </p:nvSpPr>
        <p:spPr>
          <a:xfrm rot="5400000">
            <a:off x="7048525" y="2677592"/>
            <a:ext cx="1164300" cy="370500"/>
          </a:xfrm>
          <a:prstGeom prst="blockArc">
            <a:avLst>
              <a:gd name="adj1" fmla="val 10800000"/>
              <a:gd name="adj2" fmla="val 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 name="Google Shape;141;p23"/>
          <p:cNvSpPr txBox="1"/>
          <p:nvPr/>
        </p:nvSpPr>
        <p:spPr>
          <a:xfrm>
            <a:off x="7772400" y="2180725"/>
            <a:ext cx="13398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Non-</a:t>
            </a:r>
            <a:br>
              <a:rPr lang="en" b="1">
                <a:solidFill>
                  <a:srgbClr val="FF0000"/>
                </a:solidFill>
              </a:rPr>
            </a:br>
            <a:r>
              <a:rPr lang="en" b="1">
                <a:solidFill>
                  <a:srgbClr val="FF0000"/>
                </a:solidFill>
              </a:rPr>
              <a:t>parametric effect size, significance tests: 24 loc</a:t>
            </a:r>
            <a:endParaRPr b="1">
              <a:solidFill>
                <a:srgbClr val="FF0000"/>
              </a:solidFill>
            </a:endParaRPr>
          </a:p>
        </p:txBody>
      </p:sp>
      <p:sp>
        <p:nvSpPr>
          <p:cNvPr id="142" name="Google Shape;142;p23"/>
          <p:cNvSpPr txBox="1"/>
          <p:nvPr/>
        </p:nvSpPr>
        <p:spPr>
          <a:xfrm>
            <a:off x="7920445" y="716525"/>
            <a:ext cx="1128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Misc:</a:t>
            </a:r>
            <a:br>
              <a:rPr lang="en" sz="1800" b="1">
                <a:solidFill>
                  <a:srgbClr val="FF0000"/>
                </a:solidFill>
              </a:rPr>
            </a:br>
            <a:r>
              <a:rPr lang="en" sz="1800" b="1">
                <a:solidFill>
                  <a:srgbClr val="FF0000"/>
                </a:solidFill>
              </a:rPr>
              <a:t>43 loc</a:t>
            </a:r>
            <a:endParaRPr sz="1800" b="1">
              <a:solidFill>
                <a:srgbClr val="FF0000"/>
              </a:solidFill>
            </a:endParaRPr>
          </a:p>
        </p:txBody>
      </p:sp>
      <p:sp>
        <p:nvSpPr>
          <p:cNvPr id="143" name="Google Shape;143;p23"/>
          <p:cNvSpPr/>
          <p:nvPr/>
        </p:nvSpPr>
        <p:spPr>
          <a:xfrm rot="5400000">
            <a:off x="6801225" y="1044030"/>
            <a:ext cx="1906200" cy="281700"/>
          </a:xfrm>
          <a:prstGeom prst="blockArc">
            <a:avLst>
              <a:gd name="adj1" fmla="val 10800000"/>
              <a:gd name="adj2" fmla="val 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23"/>
          <p:cNvSpPr/>
          <p:nvPr/>
        </p:nvSpPr>
        <p:spPr>
          <a:xfrm rot="5400000">
            <a:off x="7013600" y="4187726"/>
            <a:ext cx="1460400" cy="260400"/>
          </a:xfrm>
          <a:prstGeom prst="blockArc">
            <a:avLst>
              <a:gd name="adj1" fmla="val 10800000"/>
              <a:gd name="adj2" fmla="val 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 name="Google Shape;145;p23"/>
          <p:cNvSpPr txBox="1"/>
          <p:nvPr/>
        </p:nvSpPr>
        <p:spPr>
          <a:xfrm>
            <a:off x="7920445" y="3780392"/>
            <a:ext cx="11283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0000"/>
                </a:solidFill>
              </a:rPr>
              <a:t>Unit tests,</a:t>
            </a:r>
            <a:endParaRPr sz="1800" b="1">
              <a:solidFill>
                <a:srgbClr val="FF0000"/>
              </a:solidFill>
            </a:endParaRPr>
          </a:p>
          <a:p>
            <a:pPr marL="0" lvl="0" indent="0" algn="l" rtl="0">
              <a:spcBef>
                <a:spcPts val="0"/>
              </a:spcBef>
              <a:spcAft>
                <a:spcPts val="0"/>
              </a:spcAft>
              <a:buNone/>
            </a:pPr>
            <a:r>
              <a:rPr lang="en" sz="1800" b="1">
                <a:solidFill>
                  <a:srgbClr val="FF0000"/>
                </a:solidFill>
              </a:rPr>
              <a:t>CLI:</a:t>
            </a:r>
            <a:br>
              <a:rPr lang="en" sz="1800" b="1">
                <a:solidFill>
                  <a:srgbClr val="FF0000"/>
                </a:solidFill>
              </a:rPr>
            </a:br>
            <a:r>
              <a:rPr lang="en" sz="1800" b="1">
                <a:solidFill>
                  <a:srgbClr val="FF0000"/>
                </a:solidFill>
              </a:rPr>
              <a:t>30 loc</a:t>
            </a:r>
            <a:endParaRPr sz="1800" b="1">
              <a:solidFill>
                <a:srgbClr val="FF0000"/>
              </a:solidFill>
            </a:endParaRPr>
          </a:p>
        </p:txBody>
      </p:sp>
      <p:sp>
        <p:nvSpPr>
          <p:cNvPr id="146" name="Google Shape;14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24"/>
          <p:cNvPicPr preferRelativeResize="0"/>
          <p:nvPr/>
        </p:nvPicPr>
        <p:blipFill>
          <a:blip r:embed="rId3">
            <a:alphaModFix/>
          </a:blip>
          <a:stretch>
            <a:fillRect/>
          </a:stretch>
        </p:blipFill>
        <p:spPr>
          <a:xfrm>
            <a:off x="172460" y="65344"/>
            <a:ext cx="6023074" cy="2476500"/>
          </a:xfrm>
          <a:prstGeom prst="rect">
            <a:avLst/>
          </a:prstGeom>
          <a:noFill/>
          <a:ln>
            <a:noFill/>
          </a:ln>
        </p:spPr>
      </p:pic>
      <p:sp>
        <p:nvSpPr>
          <p:cNvPr id="152" name="Google Shape;152;p24"/>
          <p:cNvSpPr/>
          <p:nvPr/>
        </p:nvSpPr>
        <p:spPr>
          <a:xfrm>
            <a:off x="1871690" y="522539"/>
            <a:ext cx="4308600" cy="1677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24"/>
          <p:cNvSpPr txBox="1"/>
          <p:nvPr/>
        </p:nvSpPr>
        <p:spPr>
          <a:xfrm>
            <a:off x="6406735" y="65354"/>
            <a:ext cx="4389000" cy="318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10,000 rows</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only labelling 50</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24 independent </a:t>
            </a:r>
            <a:endParaRPr sz="1500">
              <a:solidFill>
                <a:schemeClr val="dk2"/>
              </a:solidFill>
            </a:endParaRPr>
          </a:p>
          <a:p>
            <a:pPr marL="0" lvl="0" indent="0" algn="l" rtl="0">
              <a:spcBef>
                <a:spcPts val="0"/>
              </a:spcBef>
              <a:spcAft>
                <a:spcPts val="0"/>
              </a:spcAft>
              <a:buNone/>
            </a:pPr>
            <a:r>
              <a:rPr lang="en" sz="1500">
                <a:solidFill>
                  <a:schemeClr val="dk2"/>
                </a:solidFill>
              </a:rPr>
              <a:t>attributes</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Only 3 used in </a:t>
            </a:r>
            <a:br>
              <a:rPr lang="en" sz="1500">
                <a:solidFill>
                  <a:schemeClr val="dk2"/>
                </a:solidFill>
              </a:rPr>
            </a:br>
            <a:r>
              <a:rPr lang="en" sz="1500">
                <a:solidFill>
                  <a:schemeClr val="dk2"/>
                </a:solidFill>
              </a:rPr>
              <a:t>path to best</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Only 8 used</a:t>
            </a:r>
            <a:endParaRPr sz="1500">
              <a:solidFill>
                <a:schemeClr val="dk2"/>
              </a:solidFill>
            </a:endParaRPr>
          </a:p>
          <a:p>
            <a:pPr marL="457200" lvl="0" indent="0" algn="l" rtl="0">
              <a:spcBef>
                <a:spcPts val="0"/>
              </a:spcBef>
              <a:spcAft>
                <a:spcPts val="0"/>
              </a:spcAft>
              <a:buNone/>
            </a:pPr>
            <a:r>
              <a:rPr lang="en" sz="1500">
                <a:solidFill>
                  <a:schemeClr val="dk2"/>
                </a:solidFill>
              </a:rPr>
              <a:t>In tree</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In 126 data sets,</a:t>
            </a:r>
            <a:endParaRPr sz="1500">
              <a:solidFill>
                <a:schemeClr val="dk2"/>
              </a:solidFill>
            </a:endParaRPr>
          </a:p>
          <a:p>
            <a:pPr marL="457200" lvl="0" indent="0" algn="l" rtl="0">
              <a:spcBef>
                <a:spcPts val="0"/>
              </a:spcBef>
              <a:spcAft>
                <a:spcPts val="0"/>
              </a:spcAft>
              <a:buNone/>
            </a:pPr>
            <a:r>
              <a:rPr lang="en" sz="1500">
                <a:solidFill>
                  <a:schemeClr val="dk2"/>
                </a:solidFill>
              </a:rPr>
              <a:t>never use &gt; 10</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endParaRPr sz="1500">
              <a:solidFill>
                <a:schemeClr val="dk2"/>
              </a:solidFill>
            </a:endParaRPr>
          </a:p>
        </p:txBody>
      </p:sp>
      <p:pic>
        <p:nvPicPr>
          <p:cNvPr id="154" name="Google Shape;154;p24"/>
          <p:cNvPicPr preferRelativeResize="0"/>
          <p:nvPr/>
        </p:nvPicPr>
        <p:blipFill>
          <a:blip r:embed="rId4">
            <a:alphaModFix/>
          </a:blip>
          <a:stretch>
            <a:fillRect/>
          </a:stretch>
        </p:blipFill>
        <p:spPr>
          <a:xfrm>
            <a:off x="1609125" y="2498300"/>
            <a:ext cx="4560952" cy="2564925"/>
          </a:xfrm>
          <a:prstGeom prst="rect">
            <a:avLst/>
          </a:prstGeom>
          <a:noFill/>
          <a:ln>
            <a:noFill/>
          </a:ln>
        </p:spPr>
      </p:pic>
      <p:cxnSp>
        <p:nvCxnSpPr>
          <p:cNvPr id="155" name="Google Shape;155;p24"/>
          <p:cNvCxnSpPr/>
          <p:nvPr/>
        </p:nvCxnSpPr>
        <p:spPr>
          <a:xfrm flipH="1">
            <a:off x="6043075" y="2328325"/>
            <a:ext cx="645600" cy="402300"/>
          </a:xfrm>
          <a:prstGeom prst="straightConnector1">
            <a:avLst/>
          </a:prstGeom>
          <a:noFill/>
          <a:ln w="9525" cap="flat" cmpd="sng">
            <a:solidFill>
              <a:schemeClr val="dk2"/>
            </a:solidFill>
            <a:prstDash val="solid"/>
            <a:round/>
            <a:headEnd type="none" w="med" len="med"/>
            <a:tailEnd type="triangle" w="med" len="med"/>
          </a:ln>
        </p:spPr>
      </p:cxnSp>
      <p:sp>
        <p:nvSpPr>
          <p:cNvPr id="156" name="Google Shape;156;p24"/>
          <p:cNvSpPr txBox="1"/>
          <p:nvPr/>
        </p:nvSpPr>
        <p:spPr>
          <a:xfrm>
            <a:off x="6339400" y="3587750"/>
            <a:ext cx="2497800" cy="1015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rgbClr val="FF0000"/>
                </a:solidFill>
              </a:rPr>
              <a:t>Not what you’d expect in this era of</a:t>
            </a:r>
            <a:endParaRPr sz="1800" b="1">
              <a:solidFill>
                <a:srgbClr val="FF0000"/>
              </a:solidFill>
            </a:endParaRPr>
          </a:p>
          <a:p>
            <a:pPr marL="0" lvl="0" indent="0" algn="ctr" rtl="0">
              <a:spcBef>
                <a:spcPts val="0"/>
              </a:spcBef>
              <a:spcAft>
                <a:spcPts val="0"/>
              </a:spcAft>
              <a:buNone/>
            </a:pPr>
            <a:r>
              <a:rPr lang="en" sz="1800" b="1">
                <a:solidFill>
                  <a:srgbClr val="FF0000"/>
                </a:solidFill>
              </a:rPr>
              <a:t>“big data”</a:t>
            </a:r>
            <a:endParaRPr sz="1800" b="1">
              <a:solidFill>
                <a:srgbClr val="FF0000"/>
              </a:solidFill>
            </a:endParaRPr>
          </a:p>
        </p:txBody>
      </p:sp>
      <p:sp>
        <p:nvSpPr>
          <p:cNvPr id="157" name="Google Shape;157;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25"/>
          <p:cNvPicPr preferRelativeResize="0"/>
          <p:nvPr/>
        </p:nvPicPr>
        <p:blipFill>
          <a:blip r:embed="rId3">
            <a:alphaModFix/>
          </a:blip>
          <a:stretch>
            <a:fillRect/>
          </a:stretch>
        </p:blipFill>
        <p:spPr>
          <a:xfrm>
            <a:off x="4785350" y="3090132"/>
            <a:ext cx="2452901" cy="2038717"/>
          </a:xfrm>
          <a:prstGeom prst="rect">
            <a:avLst/>
          </a:prstGeom>
          <a:noFill/>
          <a:ln>
            <a:noFill/>
          </a:ln>
        </p:spPr>
      </p:pic>
      <p:pic>
        <p:nvPicPr>
          <p:cNvPr id="163" name="Google Shape;163;p25"/>
          <p:cNvPicPr preferRelativeResize="0"/>
          <p:nvPr/>
        </p:nvPicPr>
        <p:blipFill>
          <a:blip r:embed="rId4">
            <a:alphaModFix/>
          </a:blip>
          <a:stretch>
            <a:fillRect/>
          </a:stretch>
        </p:blipFill>
        <p:spPr>
          <a:xfrm>
            <a:off x="2186935" y="206592"/>
            <a:ext cx="6023074" cy="2476500"/>
          </a:xfrm>
          <a:prstGeom prst="rect">
            <a:avLst/>
          </a:prstGeom>
          <a:noFill/>
          <a:ln>
            <a:noFill/>
          </a:ln>
        </p:spPr>
      </p:pic>
      <p:sp>
        <p:nvSpPr>
          <p:cNvPr id="164" name="Google Shape;164;p25"/>
          <p:cNvSpPr/>
          <p:nvPr/>
        </p:nvSpPr>
        <p:spPr>
          <a:xfrm>
            <a:off x="3886165" y="663787"/>
            <a:ext cx="4308600" cy="1677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 name="Google Shape;165;p25"/>
          <p:cNvSpPr txBox="1"/>
          <p:nvPr/>
        </p:nvSpPr>
        <p:spPr>
          <a:xfrm>
            <a:off x="396360" y="297582"/>
            <a:ext cx="43890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10,000 rows</a:t>
            </a:r>
            <a:endParaRPr sz="1500">
              <a:solidFill>
                <a:schemeClr val="dk2"/>
              </a:solidFill>
            </a:endParaRPr>
          </a:p>
          <a:p>
            <a:pPr marL="0" lvl="0" indent="0" algn="l" rtl="0">
              <a:spcBef>
                <a:spcPts val="0"/>
              </a:spcBef>
              <a:spcAft>
                <a:spcPts val="0"/>
              </a:spcAft>
              <a:buNone/>
            </a:pPr>
            <a:r>
              <a:rPr lang="en" sz="1500">
                <a:solidFill>
                  <a:schemeClr val="dk2"/>
                </a:solidFill>
              </a:rPr>
              <a:t>(only labelling 50)</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24 independent </a:t>
            </a:r>
            <a:endParaRPr sz="1500">
              <a:solidFill>
                <a:schemeClr val="dk2"/>
              </a:solidFill>
            </a:endParaRPr>
          </a:p>
          <a:p>
            <a:pPr marL="0" lvl="0" indent="0" algn="l" rtl="0">
              <a:spcBef>
                <a:spcPts val="0"/>
              </a:spcBef>
              <a:spcAft>
                <a:spcPts val="0"/>
              </a:spcAft>
              <a:buNone/>
            </a:pPr>
            <a:r>
              <a:rPr lang="en" sz="1500">
                <a:solidFill>
                  <a:schemeClr val="dk2"/>
                </a:solidFill>
              </a:rPr>
              <a:t>attributes (only</a:t>
            </a:r>
            <a:br>
              <a:rPr lang="en" sz="1500">
                <a:solidFill>
                  <a:schemeClr val="dk2"/>
                </a:solidFill>
              </a:rPr>
            </a:br>
            <a:r>
              <a:rPr lang="en" sz="1500">
                <a:solidFill>
                  <a:schemeClr val="dk2"/>
                </a:solidFill>
              </a:rPr>
              <a:t>using 8 in tree)</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Only 3 used in</a:t>
            </a:r>
            <a:br>
              <a:rPr lang="en" sz="1500">
                <a:solidFill>
                  <a:schemeClr val="dk2"/>
                </a:solidFill>
              </a:rPr>
            </a:br>
            <a:r>
              <a:rPr lang="en" sz="1500">
                <a:solidFill>
                  <a:schemeClr val="dk2"/>
                </a:solidFill>
              </a:rPr>
              <a:t>path to best</a:t>
            </a:r>
            <a:endParaRPr sz="1500">
              <a:solidFill>
                <a:schemeClr val="dk2"/>
              </a:solidFill>
            </a:endParaRPr>
          </a:p>
        </p:txBody>
      </p:sp>
      <p:sp>
        <p:nvSpPr>
          <p:cNvPr id="166" name="Google Shape;166;p25"/>
          <p:cNvSpPr txBox="1"/>
          <p:nvPr/>
        </p:nvSpPr>
        <p:spPr>
          <a:xfrm>
            <a:off x="92283" y="3209037"/>
            <a:ext cx="5737800" cy="1800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Repeat 200 times:</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Pick a Moot data set at random</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Divide data 1:1 train:</a:t>
            </a:r>
            <a:r>
              <a:rPr lang="en" sz="1500" b="1">
                <a:solidFill>
                  <a:srgbClr val="FF0000"/>
                </a:solidFill>
              </a:rPr>
              <a:t>test</a:t>
            </a:r>
            <a:endParaRPr sz="1500" b="1">
              <a:solidFill>
                <a:srgbClr val="FF0000"/>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Learn tree from </a:t>
            </a:r>
            <a:r>
              <a:rPr lang="en" sz="1500" b="1" u="sng">
                <a:solidFill>
                  <a:schemeClr val="dk2"/>
                </a:solidFill>
              </a:rPr>
              <a:t>B=50</a:t>
            </a:r>
            <a:r>
              <a:rPr lang="en" sz="1500">
                <a:solidFill>
                  <a:schemeClr val="dk2"/>
                </a:solidFill>
              </a:rPr>
              <a:t> labelled training egs </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1st: sort </a:t>
            </a:r>
            <a:r>
              <a:rPr lang="en" sz="1500" b="1">
                <a:solidFill>
                  <a:srgbClr val="FF0000"/>
                </a:solidFill>
              </a:rPr>
              <a:t>test</a:t>
            </a:r>
            <a:r>
              <a:rPr lang="en" sz="1500">
                <a:solidFill>
                  <a:schemeClr val="dk2"/>
                </a:solidFill>
              </a:rPr>
              <a:t> by tree predictions</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2nd: sort first </a:t>
            </a:r>
            <a:r>
              <a:rPr lang="en" sz="1500" b="1" u="sng">
                <a:solidFill>
                  <a:schemeClr val="dk2"/>
                </a:solidFill>
              </a:rPr>
              <a:t>C=5 </a:t>
            </a:r>
            <a:r>
              <a:rPr lang="en" sz="1500" b="1">
                <a:solidFill>
                  <a:srgbClr val="FF0000"/>
                </a:solidFill>
              </a:rPr>
              <a:t>test</a:t>
            </a:r>
            <a:r>
              <a:rPr lang="en" sz="1500">
                <a:solidFill>
                  <a:schemeClr val="dk2"/>
                </a:solidFill>
              </a:rPr>
              <a:t> egs by </a:t>
            </a:r>
            <a:r>
              <a:rPr lang="en" sz="1500" b="1">
                <a:solidFill>
                  <a:srgbClr val="FF0000"/>
                </a:solidFill>
              </a:rPr>
              <a:t>labels</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Return first item in 2nd sort.</a:t>
            </a:r>
            <a:endParaRPr sz="1500">
              <a:solidFill>
                <a:schemeClr val="dk2"/>
              </a:solidFill>
            </a:endParaRPr>
          </a:p>
        </p:txBody>
      </p:sp>
      <p:sp>
        <p:nvSpPr>
          <p:cNvPr id="167" name="Google Shape;167;p25"/>
          <p:cNvSpPr/>
          <p:nvPr/>
        </p:nvSpPr>
        <p:spPr>
          <a:xfrm>
            <a:off x="7334250" y="3503075"/>
            <a:ext cx="1608600" cy="91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score ≈</a:t>
            </a:r>
            <a:br>
              <a:rPr lang="en" sz="1700"/>
            </a:br>
            <a:r>
              <a:rPr lang="en" sz="1700"/>
              <a:t>.55 + 0.4*B*C</a:t>
            </a:r>
            <a:endParaRPr sz="1700"/>
          </a:p>
        </p:txBody>
      </p:sp>
      <p:sp>
        <p:nvSpPr>
          <p:cNvPr id="168" name="Google Shape;168;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182880"/>
            <a:ext cx="8412480" cy="640080"/>
          </a:xfrm>
          <a:prstGeom prst="rect">
            <a:avLst/>
          </a:prstGeom>
          <a:noFill/>
        </p:spPr>
        <p:txBody>
          <a:bodyPr wrap="square" anchor="t">
            <a:spAutoFit/>
          </a:bodyPr>
          <a:lstStyle/>
          <a:p>
            <a:pPr algn="ctr"/>
            <a:r>
              <a:rPr sz="3200" b="1">
                <a:solidFill>
                  <a:srgbClr val="CC0000"/>
                </a:solidFill>
              </a:rPr>
              <a:t>Why sort twice?</a:t>
            </a:r>
          </a:p>
        </p:txBody>
      </p:sp>
      <p:sp>
        <p:nvSpPr>
          <p:cNvPr id="4" name="Rounded Rectangle 3"/>
          <p:cNvSpPr/>
          <p:nvPr/>
        </p:nvSpPr>
        <p:spPr>
          <a:xfrm>
            <a:off x="365760" y="1097280"/>
            <a:ext cx="4023360" cy="146304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000000"/>
                </a:solidFill>
              </a:rPr>
              <a:t>Sort 1:  tree predictions on ALL test rows
Tree learned from 50 labels.
Coarse but cheap ranking.
Filters the haystack.</a:t>
            </a:r>
          </a:p>
        </p:txBody>
      </p:sp>
      <p:sp>
        <p:nvSpPr>
          <p:cNvPr id="5" name="Rounded Rectangle 4"/>
          <p:cNvSpPr/>
          <p:nvPr/>
        </p:nvSpPr>
        <p:spPr>
          <a:xfrm>
            <a:off x="4754880" y="1097280"/>
            <a:ext cx="4023360" cy="146304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000000"/>
                </a:solidFill>
              </a:rPr>
              <a:t>Sort 2:  true labels on TOP-5 only
5 more labels, exact rank.
Breaks within-leaf ties.
Picks the needle.</a:t>
            </a:r>
          </a:p>
        </p:txBody>
      </p:sp>
      <p:sp>
        <p:nvSpPr>
          <p:cNvPr id="7" name="TextBox 6"/>
          <p:cNvSpPr txBox="1"/>
          <p:nvPr/>
        </p:nvSpPr>
        <p:spPr>
          <a:xfrm>
            <a:off x="365760" y="2834640"/>
            <a:ext cx="8412480" cy="365760"/>
          </a:xfrm>
          <a:prstGeom prst="rect">
            <a:avLst/>
          </a:prstGeom>
          <a:noFill/>
        </p:spPr>
        <p:txBody>
          <a:bodyPr wrap="square" anchor="t">
            <a:spAutoFit/>
          </a:bodyPr>
          <a:lstStyle/>
          <a:p>
            <a:pPr algn="ctr"/>
            <a:r>
              <a:rPr sz="1800" b="1">
                <a:solidFill>
                  <a:srgbClr val="CC0000"/>
                </a:solidFill>
              </a:rPr>
              <a:t>Why not just argmax(tree)?</a:t>
            </a:r>
          </a:p>
        </p:txBody>
      </p:sp>
      <p:sp>
        <p:nvSpPr>
          <p:cNvPr id="8" name="TextBox 7"/>
          <p:cNvSpPr txBox="1"/>
          <p:nvPr/>
        </p:nvSpPr>
        <p:spPr>
          <a:xfrm>
            <a:off x="365760" y="3246120"/>
            <a:ext cx="8412480" cy="822960"/>
          </a:xfrm>
          <a:prstGeom prst="rect">
            <a:avLst/>
          </a:prstGeom>
          <a:noFill/>
        </p:spPr>
        <p:txBody>
          <a:bodyPr wrap="square" anchor="t">
            <a:spAutoFit/>
          </a:bodyPr>
          <a:lstStyle/>
          <a:p>
            <a:pPr algn="ctr"/>
            <a:r>
              <a:rPr sz="1400" b="0">
                <a:solidFill>
                  <a:srgbClr val="000000"/>
                </a:solidFill>
              </a:rPr>
              <a:t>At B=50, tree leaves are noisy: many rows share the same predicted rank.</a:t>
            </a:r>
          </a:p>
          <a:p>
            <a:pPr algn="ctr"/>
            <a:r>
              <a:rPr sz="1400" b="0">
                <a:solidFill>
                  <a:srgbClr val="000000"/>
                </a:solidFill>
              </a:rPr>
              <a:t>The within-leaf order is random unless you spend a few labels to resolve it.</a:t>
            </a:r>
          </a:p>
          <a:p>
            <a:pPr algn="ctr"/>
            <a:r>
              <a:rPr sz="1400" b="0">
                <a:solidFill>
                  <a:srgbClr val="000000"/>
                </a:solidFill>
              </a:rPr>
              <a:t>C=5 labels is usually enough — the leaf is already small.</a:t>
            </a:r>
          </a:p>
        </p:txBody>
      </p:sp>
      <p:sp>
        <p:nvSpPr>
          <p:cNvPr id="9" name="Rounded Rectangle 8"/>
          <p:cNvSpPr/>
          <p:nvPr/>
        </p:nvSpPr>
        <p:spPr>
          <a:xfrm>
            <a:off x="2743200" y="4389120"/>
            <a:ext cx="3657600" cy="64008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CC0000"/>
                </a:solidFill>
              </a:rPr>
              <a:t>Total labels used:  50 (train tree)  +  5 (tie-break)  =  55</a:t>
            </a:r>
          </a:p>
        </p:txBody>
      </p:sp>
      <p:sp>
        <p:nvSpPr>
          <p:cNvPr id="11" name="Title 10">
            <a:extLst>
              <a:ext uri="{FF2B5EF4-FFF2-40B4-BE49-F238E27FC236}">
                <a16:creationId xmlns:a16="http://schemas.microsoft.com/office/drawing/2014/main" id="{7D23F5CB-3721-4293-6D0D-509CC0CE5DC4}"/>
              </a:ext>
            </a:extLst>
          </p:cNvPr>
          <p:cNvSpPr>
            <a:spLocks noGrp="1"/>
          </p:cNvSpPr>
          <p:nvPr>
            <p:ph type="title"/>
          </p:nvPr>
        </p:nvSpPr>
        <p:spPr/>
        <p:txBody>
          <a:bodyPr/>
          <a:lstStyle/>
          <a:p>
            <a:r>
              <a:rPr lang="en-US"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26"/>
          <p:cNvPicPr preferRelativeResize="0"/>
          <p:nvPr/>
        </p:nvPicPr>
        <p:blipFill>
          <a:blip r:embed="rId3">
            <a:alphaModFix/>
          </a:blip>
          <a:stretch>
            <a:fillRect/>
          </a:stretch>
        </p:blipFill>
        <p:spPr>
          <a:xfrm>
            <a:off x="2186935" y="206592"/>
            <a:ext cx="6023074" cy="2476500"/>
          </a:xfrm>
          <a:prstGeom prst="rect">
            <a:avLst/>
          </a:prstGeom>
          <a:noFill/>
          <a:ln>
            <a:noFill/>
          </a:ln>
        </p:spPr>
      </p:pic>
      <p:sp>
        <p:nvSpPr>
          <p:cNvPr id="174" name="Google Shape;174;p26"/>
          <p:cNvSpPr/>
          <p:nvPr/>
        </p:nvSpPr>
        <p:spPr>
          <a:xfrm>
            <a:off x="3886165" y="663787"/>
            <a:ext cx="4308600" cy="1677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26"/>
          <p:cNvSpPr txBox="1"/>
          <p:nvPr/>
        </p:nvSpPr>
        <p:spPr>
          <a:xfrm>
            <a:off x="396360" y="297582"/>
            <a:ext cx="43890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10,000 rows</a:t>
            </a:r>
            <a:endParaRPr sz="1500">
              <a:solidFill>
                <a:schemeClr val="dk2"/>
              </a:solidFill>
            </a:endParaRPr>
          </a:p>
          <a:p>
            <a:pPr marL="0" lvl="0" indent="0" algn="l" rtl="0">
              <a:spcBef>
                <a:spcPts val="0"/>
              </a:spcBef>
              <a:spcAft>
                <a:spcPts val="0"/>
              </a:spcAft>
              <a:buNone/>
            </a:pPr>
            <a:r>
              <a:rPr lang="en" sz="1500">
                <a:solidFill>
                  <a:schemeClr val="dk2"/>
                </a:solidFill>
              </a:rPr>
              <a:t>(only labelling 50)</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24 independent </a:t>
            </a:r>
            <a:endParaRPr sz="1500">
              <a:solidFill>
                <a:schemeClr val="dk2"/>
              </a:solidFill>
            </a:endParaRPr>
          </a:p>
          <a:p>
            <a:pPr marL="0" lvl="0" indent="0" algn="l" rtl="0">
              <a:spcBef>
                <a:spcPts val="0"/>
              </a:spcBef>
              <a:spcAft>
                <a:spcPts val="0"/>
              </a:spcAft>
              <a:buNone/>
            </a:pPr>
            <a:r>
              <a:rPr lang="en" sz="1500">
                <a:solidFill>
                  <a:schemeClr val="dk2"/>
                </a:solidFill>
              </a:rPr>
              <a:t>attributes (only</a:t>
            </a:r>
            <a:br>
              <a:rPr lang="en" sz="1500">
                <a:solidFill>
                  <a:schemeClr val="dk2"/>
                </a:solidFill>
              </a:rPr>
            </a:br>
            <a:r>
              <a:rPr lang="en" sz="1500">
                <a:solidFill>
                  <a:schemeClr val="dk2"/>
                </a:solidFill>
              </a:rPr>
              <a:t>using 8 in tree)</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Only 3 used in</a:t>
            </a:r>
            <a:br>
              <a:rPr lang="en" sz="1500">
                <a:solidFill>
                  <a:schemeClr val="dk2"/>
                </a:solidFill>
              </a:rPr>
            </a:br>
            <a:r>
              <a:rPr lang="en" sz="1500">
                <a:solidFill>
                  <a:schemeClr val="dk2"/>
                </a:solidFill>
              </a:rPr>
              <a:t>path to best</a:t>
            </a:r>
            <a:endParaRPr sz="1500">
              <a:solidFill>
                <a:schemeClr val="dk2"/>
              </a:solidFill>
            </a:endParaRPr>
          </a:p>
        </p:txBody>
      </p:sp>
      <p:sp>
        <p:nvSpPr>
          <p:cNvPr id="176" name="Google Shape;176;p26"/>
          <p:cNvSpPr txBox="1"/>
          <p:nvPr/>
        </p:nvSpPr>
        <p:spPr>
          <a:xfrm>
            <a:off x="92283" y="3209037"/>
            <a:ext cx="5737800" cy="1800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Repeat 200 times:</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Pick a Moot data set at random</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Divide data 1:1 train:</a:t>
            </a:r>
            <a:r>
              <a:rPr lang="en" sz="1500" b="1">
                <a:solidFill>
                  <a:srgbClr val="FF0000"/>
                </a:solidFill>
              </a:rPr>
              <a:t>test</a:t>
            </a:r>
            <a:endParaRPr sz="1500" b="1">
              <a:solidFill>
                <a:srgbClr val="FF0000"/>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Learn tree from </a:t>
            </a:r>
            <a:r>
              <a:rPr lang="en" sz="1500" b="1" u="sng">
                <a:solidFill>
                  <a:schemeClr val="dk2"/>
                </a:solidFill>
              </a:rPr>
              <a:t>B=50</a:t>
            </a:r>
            <a:r>
              <a:rPr lang="en" sz="1500">
                <a:solidFill>
                  <a:schemeClr val="dk2"/>
                </a:solidFill>
              </a:rPr>
              <a:t> labelled training egs </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1st: sort </a:t>
            </a:r>
            <a:r>
              <a:rPr lang="en" sz="1500" b="1">
                <a:solidFill>
                  <a:srgbClr val="FF0000"/>
                </a:solidFill>
              </a:rPr>
              <a:t>test</a:t>
            </a:r>
            <a:r>
              <a:rPr lang="en" sz="1500">
                <a:solidFill>
                  <a:schemeClr val="dk2"/>
                </a:solidFill>
              </a:rPr>
              <a:t> by tree predictions</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2nd: sort first </a:t>
            </a:r>
            <a:r>
              <a:rPr lang="en" sz="1500" b="1" u="sng">
                <a:solidFill>
                  <a:schemeClr val="dk2"/>
                </a:solidFill>
              </a:rPr>
              <a:t>C=5 </a:t>
            </a:r>
            <a:r>
              <a:rPr lang="en" sz="1500" b="1">
                <a:solidFill>
                  <a:srgbClr val="FF0000"/>
                </a:solidFill>
              </a:rPr>
              <a:t>test</a:t>
            </a:r>
            <a:r>
              <a:rPr lang="en" sz="1500">
                <a:solidFill>
                  <a:schemeClr val="dk2"/>
                </a:solidFill>
              </a:rPr>
              <a:t> egs by </a:t>
            </a:r>
            <a:r>
              <a:rPr lang="en" sz="1500" b="1">
                <a:solidFill>
                  <a:srgbClr val="FF0000"/>
                </a:solidFill>
              </a:rPr>
              <a:t>labels</a:t>
            </a:r>
            <a:endParaRPr sz="1500">
              <a:solidFill>
                <a:schemeClr val="dk2"/>
              </a:solidFill>
            </a:endParaRPr>
          </a:p>
          <a:p>
            <a:pPr marL="914400" lvl="1" indent="-323850" algn="l" rtl="0">
              <a:spcBef>
                <a:spcPts val="0"/>
              </a:spcBef>
              <a:spcAft>
                <a:spcPts val="0"/>
              </a:spcAft>
              <a:buClr>
                <a:schemeClr val="dk2"/>
              </a:buClr>
              <a:buSzPts val="1500"/>
              <a:buAutoNum type="alphaLcPeriod"/>
            </a:pPr>
            <a:r>
              <a:rPr lang="en" sz="1500">
                <a:solidFill>
                  <a:schemeClr val="dk2"/>
                </a:solidFill>
              </a:rPr>
              <a:t>Return first item in 2nd sort.</a:t>
            </a:r>
            <a:endParaRPr sz="1500">
              <a:solidFill>
                <a:schemeClr val="dk2"/>
              </a:solidFill>
            </a:endParaRPr>
          </a:p>
        </p:txBody>
      </p:sp>
      <p:pic>
        <p:nvPicPr>
          <p:cNvPr id="177" name="Google Shape;177;p26"/>
          <p:cNvPicPr preferRelativeResize="0"/>
          <p:nvPr/>
        </p:nvPicPr>
        <p:blipFill>
          <a:blip r:embed="rId4">
            <a:alphaModFix/>
          </a:blip>
          <a:stretch>
            <a:fillRect/>
          </a:stretch>
        </p:blipFill>
        <p:spPr>
          <a:xfrm>
            <a:off x="5122524" y="2749985"/>
            <a:ext cx="3426676" cy="2317550"/>
          </a:xfrm>
          <a:prstGeom prst="rect">
            <a:avLst/>
          </a:prstGeom>
          <a:noFill/>
          <a:ln>
            <a:noFill/>
          </a:ln>
        </p:spPr>
      </p:pic>
      <p:sp>
        <p:nvSpPr>
          <p:cNvPr id="178" name="Google Shape;17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7"/>
          <p:cNvPicPr preferRelativeResize="0"/>
          <p:nvPr/>
        </p:nvPicPr>
        <p:blipFill>
          <a:blip r:embed="rId3">
            <a:alphaModFix/>
          </a:blip>
          <a:stretch>
            <a:fillRect/>
          </a:stretch>
        </p:blipFill>
        <p:spPr>
          <a:xfrm>
            <a:off x="2186935" y="206592"/>
            <a:ext cx="6023074" cy="2476500"/>
          </a:xfrm>
          <a:prstGeom prst="rect">
            <a:avLst/>
          </a:prstGeom>
          <a:noFill/>
          <a:ln>
            <a:noFill/>
          </a:ln>
        </p:spPr>
      </p:pic>
      <p:sp>
        <p:nvSpPr>
          <p:cNvPr id="184" name="Google Shape;184;p27"/>
          <p:cNvSpPr/>
          <p:nvPr/>
        </p:nvSpPr>
        <p:spPr>
          <a:xfrm>
            <a:off x="3886165" y="663787"/>
            <a:ext cx="4308600" cy="1677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27"/>
          <p:cNvSpPr txBox="1"/>
          <p:nvPr/>
        </p:nvSpPr>
        <p:spPr>
          <a:xfrm>
            <a:off x="396360" y="297582"/>
            <a:ext cx="43890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rPr>
              <a:t>10,000 rows</a:t>
            </a:r>
            <a:endParaRPr sz="1500">
              <a:solidFill>
                <a:schemeClr val="dk2"/>
              </a:solidFill>
            </a:endParaRPr>
          </a:p>
          <a:p>
            <a:pPr marL="0" lvl="0" indent="0" algn="l" rtl="0">
              <a:spcBef>
                <a:spcPts val="0"/>
              </a:spcBef>
              <a:spcAft>
                <a:spcPts val="0"/>
              </a:spcAft>
              <a:buNone/>
            </a:pPr>
            <a:r>
              <a:rPr lang="en" sz="1500">
                <a:solidFill>
                  <a:schemeClr val="dk2"/>
                </a:solidFill>
              </a:rPr>
              <a:t>(only labelling 50)</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24 independent </a:t>
            </a:r>
            <a:endParaRPr sz="1500">
              <a:solidFill>
                <a:schemeClr val="dk2"/>
              </a:solidFill>
            </a:endParaRPr>
          </a:p>
          <a:p>
            <a:pPr marL="0" lvl="0" indent="0" algn="l" rtl="0">
              <a:spcBef>
                <a:spcPts val="0"/>
              </a:spcBef>
              <a:spcAft>
                <a:spcPts val="0"/>
              </a:spcAft>
              <a:buNone/>
            </a:pPr>
            <a:r>
              <a:rPr lang="en" sz="1500">
                <a:solidFill>
                  <a:schemeClr val="dk2"/>
                </a:solidFill>
              </a:rPr>
              <a:t>attributes (only</a:t>
            </a:r>
            <a:br>
              <a:rPr lang="en" sz="1500">
                <a:solidFill>
                  <a:schemeClr val="dk2"/>
                </a:solidFill>
              </a:rPr>
            </a:br>
            <a:r>
              <a:rPr lang="en" sz="1500">
                <a:solidFill>
                  <a:schemeClr val="dk2"/>
                </a:solidFill>
              </a:rPr>
              <a:t>using 8 in tree)</a:t>
            </a:r>
            <a:endParaRPr sz="1500">
              <a:solidFill>
                <a:schemeClr val="dk2"/>
              </a:solidFill>
            </a:endParaRPr>
          </a:p>
          <a:p>
            <a:pPr marL="0" lvl="0" indent="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500">
                <a:solidFill>
                  <a:schemeClr val="dk2"/>
                </a:solidFill>
              </a:rPr>
              <a:t>Only 3 used in</a:t>
            </a:r>
            <a:br>
              <a:rPr lang="en" sz="1500">
                <a:solidFill>
                  <a:schemeClr val="dk2"/>
                </a:solidFill>
              </a:rPr>
            </a:br>
            <a:r>
              <a:rPr lang="en" sz="1500">
                <a:solidFill>
                  <a:schemeClr val="dk2"/>
                </a:solidFill>
              </a:rPr>
              <a:t>path to best</a:t>
            </a:r>
            <a:endParaRPr sz="1500">
              <a:solidFill>
                <a:schemeClr val="dk2"/>
              </a:solidFill>
            </a:endParaRPr>
          </a:p>
        </p:txBody>
      </p:sp>
      <p:sp>
        <p:nvSpPr>
          <p:cNvPr id="186" name="Google Shape;186;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pic>
        <p:nvPicPr>
          <p:cNvPr id="187" name="Google Shape;187;p27"/>
          <p:cNvPicPr preferRelativeResize="0"/>
          <p:nvPr/>
        </p:nvPicPr>
        <p:blipFill>
          <a:blip r:embed="rId4">
            <a:alphaModFix/>
          </a:blip>
          <a:stretch>
            <a:fillRect/>
          </a:stretch>
        </p:blipFill>
        <p:spPr>
          <a:xfrm>
            <a:off x="3688225" y="114300"/>
            <a:ext cx="5411351" cy="2606900"/>
          </a:xfrm>
          <a:prstGeom prst="rect">
            <a:avLst/>
          </a:prstGeom>
          <a:noFill/>
          <a:ln>
            <a:noFill/>
          </a:ln>
        </p:spPr>
      </p:pic>
      <p:pic>
        <p:nvPicPr>
          <p:cNvPr id="188" name="Google Shape;188;p27"/>
          <p:cNvPicPr preferRelativeResize="0"/>
          <p:nvPr/>
        </p:nvPicPr>
        <p:blipFill>
          <a:blip r:embed="rId5">
            <a:alphaModFix/>
          </a:blip>
          <a:stretch>
            <a:fillRect/>
          </a:stretch>
        </p:blipFill>
        <p:spPr>
          <a:xfrm>
            <a:off x="3143250" y="2939325"/>
            <a:ext cx="3229938" cy="2117499"/>
          </a:xfrm>
          <a:prstGeom prst="rect">
            <a:avLst/>
          </a:prstGeom>
          <a:noFill/>
          <a:ln>
            <a:noFill/>
          </a:ln>
        </p:spPr>
      </p:pic>
      <p:sp>
        <p:nvSpPr>
          <p:cNvPr id="189" name="Google Shape;189;p27"/>
          <p:cNvSpPr/>
          <p:nvPr/>
        </p:nvSpPr>
        <p:spPr>
          <a:xfrm>
            <a:off x="7334250" y="3503075"/>
            <a:ext cx="1608600" cy="917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100 times faster than SOTA</a:t>
            </a:r>
            <a:endParaRPr sz="1700"/>
          </a:p>
        </p:txBody>
      </p:sp>
      <p:sp>
        <p:nvSpPr>
          <p:cNvPr id="190" name="Google Shape;190;p27"/>
          <p:cNvSpPr txBox="1"/>
          <p:nvPr/>
        </p:nvSpPr>
        <p:spPr>
          <a:xfrm>
            <a:off x="396350" y="3111500"/>
            <a:ext cx="2537400" cy="1723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FF0000"/>
                </a:solidFill>
              </a:rPr>
              <a:t>Simple, performs like SOTA, very fast, explainable code, explainable model</a:t>
            </a:r>
            <a:endParaRPr sz="2000" b="1">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3575" y="182880"/>
            <a:ext cx="8412480" cy="640080"/>
          </a:xfrm>
          <a:prstGeom prst="rect">
            <a:avLst/>
          </a:prstGeom>
          <a:noFill/>
        </p:spPr>
        <p:txBody>
          <a:bodyPr wrap="square" anchor="t">
            <a:spAutoFit/>
          </a:bodyPr>
          <a:lstStyle/>
          <a:p>
            <a:pPr algn="ctr"/>
            <a:r>
              <a:rPr sz="3200" b="1">
                <a:solidFill>
                  <a:srgbClr val="CC0000"/>
                </a:solidFill>
              </a:rPr>
              <a:t>When LLMs, when trees?</a:t>
            </a:r>
          </a:p>
        </p:txBody>
      </p:sp>
      <p:sp>
        <p:nvSpPr>
          <p:cNvPr id="4" name="Rounded Rectangle 3"/>
          <p:cNvSpPr/>
          <p:nvPr/>
        </p:nvSpPr>
        <p:spPr>
          <a:xfrm>
            <a:off x="365760" y="1005840"/>
            <a:ext cx="4023360" cy="54864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000000"/>
                </a:solidFill>
              </a:rPr>
              <a:t>Use SynthCore (20 LLM prompts)</a:t>
            </a:r>
          </a:p>
        </p:txBody>
      </p:sp>
      <p:sp>
        <p:nvSpPr>
          <p:cNvPr id="5" name="TextBox 4"/>
          <p:cNvSpPr txBox="1"/>
          <p:nvPr/>
        </p:nvSpPr>
        <p:spPr>
          <a:xfrm>
            <a:off x="556455" y="1645920"/>
            <a:ext cx="3749039" cy="2743200"/>
          </a:xfrm>
          <a:prstGeom prst="rect">
            <a:avLst/>
          </a:prstGeom>
          <a:noFill/>
        </p:spPr>
        <p:txBody>
          <a:bodyPr wrap="square" anchor="t">
            <a:spAutoFit/>
          </a:bodyPr>
          <a:lstStyle/>
          <a:p>
            <a:pPr algn="l"/>
            <a:r>
              <a:rPr sz="1400" b="0">
                <a:solidFill>
                  <a:srgbClr val="000000"/>
                </a:solidFill>
              </a:rPr>
              <a:t>• free-text, semantic inputs</a:t>
            </a:r>
          </a:p>
          <a:p>
            <a:pPr algn="l"/>
            <a:r>
              <a:rPr sz="1400" b="0">
                <a:solidFill>
                  <a:srgbClr val="000000"/>
                </a:solidFill>
              </a:rPr>
              <a:t>• no labels to anchor on</a:t>
            </a:r>
          </a:p>
          <a:p>
            <a:pPr algn="l"/>
            <a:r>
              <a:rPr sz="1400" b="0">
                <a:solidFill>
                  <a:srgbClr val="000000"/>
                </a:solidFill>
              </a:rPr>
              <a:t>• need novel ideation</a:t>
            </a:r>
          </a:p>
          <a:p>
            <a:pPr algn="l"/>
            <a:r>
              <a:rPr sz="1400" b="0">
                <a:solidFill>
                  <a:srgbClr val="000000"/>
                </a:solidFill>
              </a:rPr>
              <a:t>• problem described, not tabulated</a:t>
            </a:r>
          </a:p>
          <a:p>
            <a:pPr algn="l"/>
            <a:endParaRPr sz="1400" b="0">
              <a:solidFill>
                <a:srgbClr val="000000"/>
              </a:solidFill>
            </a:endParaRPr>
          </a:p>
          <a:p>
            <a:pPr algn="l"/>
            <a:r>
              <a:rPr sz="1400" b="0">
                <a:solidFill>
                  <a:srgbClr val="000000"/>
                </a:solidFill>
              </a:rPr>
              <a:t>49 MOO tasks — Senthilkumar '26</a:t>
            </a:r>
          </a:p>
        </p:txBody>
      </p:sp>
      <p:sp>
        <p:nvSpPr>
          <p:cNvPr id="6" name="Rounded Rectangle 5"/>
          <p:cNvSpPr/>
          <p:nvPr/>
        </p:nvSpPr>
        <p:spPr>
          <a:xfrm>
            <a:off x="4754880" y="1005840"/>
            <a:ext cx="4023360" cy="54864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000000"/>
                </a:solidFill>
              </a:rPr>
              <a:t>Use the 50-loc tree</a:t>
            </a:r>
          </a:p>
        </p:txBody>
      </p:sp>
      <p:sp>
        <p:nvSpPr>
          <p:cNvPr id="7" name="TextBox 6"/>
          <p:cNvSpPr txBox="1"/>
          <p:nvPr/>
        </p:nvSpPr>
        <p:spPr>
          <a:xfrm>
            <a:off x="4937760" y="1645920"/>
            <a:ext cx="3749039" cy="2743200"/>
          </a:xfrm>
          <a:prstGeom prst="rect">
            <a:avLst/>
          </a:prstGeom>
          <a:noFill/>
        </p:spPr>
        <p:txBody>
          <a:bodyPr wrap="square" anchor="t">
            <a:spAutoFit/>
          </a:bodyPr>
          <a:lstStyle/>
          <a:p>
            <a:pPr algn="l"/>
            <a:r>
              <a:rPr sz="1400" b="0">
                <a:solidFill>
                  <a:srgbClr val="000000"/>
                </a:solidFill>
              </a:rPr>
              <a:t>• structured, tabular inputs</a:t>
            </a:r>
          </a:p>
          <a:p>
            <a:pPr algn="l"/>
            <a:r>
              <a:rPr sz="1400" b="0">
                <a:solidFill>
                  <a:srgbClr val="000000"/>
                </a:solidFill>
              </a:rPr>
              <a:t>• you can afford ~50 labels</a:t>
            </a:r>
          </a:p>
          <a:p>
            <a:pPr algn="l"/>
            <a:r>
              <a:rPr sz="1400" b="0">
                <a:solidFill>
                  <a:srgbClr val="000000"/>
                </a:solidFill>
              </a:rPr>
              <a:t>• need fast, explainable ranking</a:t>
            </a:r>
          </a:p>
          <a:p>
            <a:pPr algn="l"/>
            <a:r>
              <a:rPr sz="1400" b="0">
                <a:solidFill>
                  <a:srgbClr val="000000"/>
                </a:solidFill>
              </a:rPr>
              <a:t>• ms-scale inference, auditable</a:t>
            </a:r>
          </a:p>
          <a:p>
            <a:pPr algn="l"/>
            <a:endParaRPr sz="1400" b="0">
              <a:solidFill>
                <a:srgbClr val="000000"/>
              </a:solidFill>
            </a:endParaRPr>
          </a:p>
          <a:p>
            <a:pPr algn="l"/>
            <a:r>
              <a:rPr sz="1400" b="0">
                <a:solidFill>
                  <a:srgbClr val="000000"/>
                </a:solidFill>
              </a:rPr>
              <a:t>127 MOOT tasks — this talk</a:t>
            </a:r>
          </a:p>
        </p:txBody>
      </p:sp>
      <p:sp>
        <p:nvSpPr>
          <p:cNvPr id="8" name="Rounded Rectangle 7"/>
          <p:cNvSpPr/>
          <p:nvPr/>
        </p:nvSpPr>
        <p:spPr>
          <a:xfrm>
            <a:off x="914400" y="4023360"/>
            <a:ext cx="7315200" cy="73152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600" b="1">
                <a:solidFill>
                  <a:srgbClr val="CC0000"/>
                </a:solidFill>
              </a:rPr>
              <a:t>Spend compute on DIVERSITY, not SCALE — 20 prompts or a few tree leaves.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p:nvPr/>
        </p:nvSpPr>
        <p:spPr>
          <a:xfrm>
            <a:off x="-105100" y="-152875"/>
            <a:ext cx="9373200" cy="5570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 name="Google Shape;196;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So why do my trees </a:t>
            </a:r>
            <a:br>
              <a:rPr lang="en">
                <a:solidFill>
                  <a:schemeClr val="lt1"/>
                </a:solidFill>
              </a:rPr>
            </a:br>
            <a:r>
              <a:rPr lang="en">
                <a:solidFill>
                  <a:schemeClr val="lt1"/>
                </a:solidFill>
              </a:rPr>
              <a:t>work so well?</a:t>
            </a:r>
            <a:endParaRPr>
              <a:solidFill>
                <a:schemeClr val="lt1"/>
              </a:solidFill>
            </a:endParaRPr>
          </a:p>
        </p:txBody>
      </p:sp>
      <p:sp>
        <p:nvSpPr>
          <p:cNvPr id="197" name="Google Shape;197;p28"/>
          <p:cNvSpPr txBox="1">
            <a:spLocks noGrp="1"/>
          </p:cNvSpPr>
          <p:nvPr>
            <p:ph type="subTitle" idx="1"/>
          </p:nvPr>
        </p:nvSpPr>
        <p:spPr>
          <a:xfrm>
            <a:off x="321200" y="38087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a:solidFill>
                  <a:schemeClr val="lt1"/>
                </a:solidFill>
              </a:rPr>
              <a:t>The landscape is not </a:t>
            </a:r>
            <a:endParaRPr>
              <a:solidFill>
                <a:schemeClr val="lt1"/>
              </a:solidFill>
            </a:endParaRPr>
          </a:p>
          <a:p>
            <a:pPr marL="0" lvl="0" indent="0" algn="ctr" rtl="0">
              <a:spcBef>
                <a:spcPts val="0"/>
              </a:spcBef>
              <a:spcAft>
                <a:spcPts val="0"/>
              </a:spcAft>
              <a:buNone/>
            </a:pPr>
            <a:r>
              <a:rPr lang="en">
                <a:solidFill>
                  <a:schemeClr val="lt1"/>
                </a:solidFill>
              </a:rPr>
              <a:t>what we expected</a:t>
            </a:r>
            <a:endParaRPr>
              <a:solidFill>
                <a:schemeClr val="lt1"/>
              </a:solidFill>
            </a:endParaRPr>
          </a:p>
        </p:txBody>
      </p:sp>
      <p:sp>
        <p:nvSpPr>
          <p:cNvPr id="198" name="Google Shape;198;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9"/>
          <p:cNvPicPr preferRelativeResize="0"/>
          <p:nvPr/>
        </p:nvPicPr>
        <p:blipFill>
          <a:blip r:embed="rId3">
            <a:alphaModFix/>
          </a:blip>
          <a:stretch>
            <a:fillRect/>
          </a:stretch>
        </p:blipFill>
        <p:spPr>
          <a:xfrm>
            <a:off x="2063713" y="783501"/>
            <a:ext cx="5235424" cy="4227550"/>
          </a:xfrm>
          <a:prstGeom prst="rect">
            <a:avLst/>
          </a:prstGeom>
          <a:noFill/>
          <a:ln>
            <a:noFill/>
          </a:ln>
        </p:spPr>
      </p:pic>
      <p:sp>
        <p:nvSpPr>
          <p:cNvPr id="204" name="Google Shape;204;p29"/>
          <p:cNvSpPr txBox="1"/>
          <p:nvPr/>
        </p:nvSpPr>
        <p:spPr>
          <a:xfrm>
            <a:off x="211650" y="158750"/>
            <a:ext cx="87207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FF0000"/>
                </a:solidFill>
              </a:rPr>
              <a:t>Landscape analysis</a:t>
            </a:r>
            <a:endParaRPr sz="2000" b="1">
              <a:solidFill>
                <a:srgbClr val="FF0000"/>
              </a:solidFill>
            </a:endParaRPr>
          </a:p>
        </p:txBody>
      </p:sp>
      <p:sp>
        <p:nvSpPr>
          <p:cNvPr id="205" name="Google Shape;205;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11" name="Google Shape;211;p3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12" name="Google Shape;212;p30"/>
          <p:cNvPicPr preferRelativeResize="0"/>
          <p:nvPr/>
        </p:nvPicPr>
        <p:blipFill>
          <a:blip r:embed="rId3">
            <a:alphaModFix/>
          </a:blip>
          <a:stretch>
            <a:fillRect/>
          </a:stretch>
        </p:blipFill>
        <p:spPr>
          <a:xfrm>
            <a:off x="0" y="143193"/>
            <a:ext cx="9144002" cy="4857115"/>
          </a:xfrm>
          <a:prstGeom prst="rect">
            <a:avLst/>
          </a:prstGeom>
          <a:noFill/>
          <a:ln>
            <a:noFill/>
          </a:ln>
        </p:spPr>
      </p:pic>
      <p:sp>
        <p:nvSpPr>
          <p:cNvPr id="213" name="Google Shape;21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19" name="Google Shape;219;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20" name="Google Shape;220;p31"/>
          <p:cNvPicPr preferRelativeResize="0"/>
          <p:nvPr/>
        </p:nvPicPr>
        <p:blipFill>
          <a:blip r:embed="rId3">
            <a:alphaModFix/>
          </a:blip>
          <a:stretch>
            <a:fillRect/>
          </a:stretch>
        </p:blipFill>
        <p:spPr>
          <a:xfrm>
            <a:off x="10592" y="199744"/>
            <a:ext cx="9143998" cy="4786311"/>
          </a:xfrm>
          <a:prstGeom prst="rect">
            <a:avLst/>
          </a:prstGeom>
          <a:noFill/>
          <a:ln>
            <a:noFill/>
          </a:ln>
        </p:spPr>
      </p:pic>
      <p:sp>
        <p:nvSpPr>
          <p:cNvPr id="221" name="Google Shape;22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p:nvPr/>
        </p:nvSpPr>
        <p:spPr>
          <a:xfrm>
            <a:off x="-105100" y="-152875"/>
            <a:ext cx="9373200" cy="5570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Q: Why not </a:t>
            </a:r>
            <a:br>
              <a:rPr lang="en">
                <a:solidFill>
                  <a:schemeClr val="lt1"/>
                </a:solidFill>
              </a:rPr>
            </a:br>
            <a:r>
              <a:rPr lang="en">
                <a:solidFill>
                  <a:schemeClr val="lt1"/>
                </a:solidFill>
              </a:rPr>
              <a:t>seen before?</a:t>
            </a:r>
            <a:endParaRPr>
              <a:solidFill>
                <a:schemeClr val="lt1"/>
              </a:solidFill>
            </a:endParaRPr>
          </a:p>
        </p:txBody>
      </p:sp>
      <p:sp>
        <p:nvSpPr>
          <p:cNvPr id="228" name="Google Shape;228;p32"/>
          <p:cNvSpPr txBox="1">
            <a:spLocks noGrp="1"/>
          </p:cNvSpPr>
          <p:nvPr>
            <p:ph type="subTitle" idx="1"/>
          </p:nvPr>
        </p:nvSpPr>
        <p:spPr>
          <a:xfrm>
            <a:off x="321200" y="38087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lt1"/>
                </a:solidFill>
              </a:rPr>
              <a:t>A: cause no one looked</a:t>
            </a:r>
            <a:endParaRPr>
              <a:solidFill>
                <a:schemeClr val="lt1"/>
              </a:solidFill>
            </a:endParaRPr>
          </a:p>
        </p:txBody>
      </p:sp>
      <p:sp>
        <p:nvSpPr>
          <p:cNvPr id="229" name="Google Shape;229;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Box 2"/>
          <p:cNvSpPr txBox="1"/>
          <p:nvPr/>
        </p:nvSpPr>
        <p:spPr>
          <a:xfrm>
            <a:off x="365760" y="182880"/>
            <a:ext cx="8412480" cy="640080"/>
          </a:xfrm>
          <a:prstGeom prst="rect">
            <a:avLst/>
          </a:prstGeom>
          <a:noFill/>
        </p:spPr>
        <p:txBody>
          <a:bodyPr wrap="square" anchor="t">
            <a:spAutoFit/>
          </a:bodyPr>
          <a:lstStyle/>
          <a:p>
            <a:pPr algn="ctr"/>
            <a:r>
              <a:rPr sz="3200" b="1">
                <a:solidFill>
                  <a:srgbClr val="CC0000"/>
                </a:solidFill>
              </a:rPr>
              <a:t>What does this mean for verification?</a:t>
            </a:r>
          </a:p>
        </p:txBody>
      </p:sp>
      <p:sp>
        <p:nvSpPr>
          <p:cNvPr id="4" name="Rounded Rectangle 3"/>
          <p:cNvSpPr/>
          <p:nvPr/>
        </p:nvSpPr>
        <p:spPr>
          <a:xfrm>
            <a:off x="365760" y="1005840"/>
            <a:ext cx="4023360" cy="2103120"/>
          </a:xfrm>
          <a:prstGeom prst="roundRect">
            <a:avLst/>
          </a:prstGeom>
          <a:solidFill>
            <a:srgbClr val="DDEE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000000"/>
                </a:solidFill>
              </a:rPr>
              <a:t>50-loc tree
• every path auditable
• reproducible with a seed
• inference in ms
• 3 of 24 features actually used
• read the whole model in 2 min</a:t>
            </a:r>
          </a:p>
        </p:txBody>
      </p:sp>
      <p:sp>
        <p:nvSpPr>
          <p:cNvPr id="5" name="Rounded Rectangle 4"/>
          <p:cNvSpPr/>
          <p:nvPr/>
        </p:nvSpPr>
        <p:spPr>
          <a:xfrm>
            <a:off x="4754880" y="1005840"/>
            <a:ext cx="4023360" cy="210312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l"/>
            <a:r>
              <a:rPr sz="1400" b="0">
                <a:solidFill>
                  <a:srgbClr val="000000"/>
                </a:solidFill>
              </a:rPr>
              <a:t>70B LLM
• 10^11 parameters
• non-deterministic outputs
• inference is a black box
• all features 'used', none explain
• verification requires testing, not reading</a:t>
            </a:r>
          </a:p>
        </p:txBody>
      </p:sp>
      <p:sp>
        <p:nvSpPr>
          <p:cNvPr id="6" name="TextBox 5"/>
          <p:cNvSpPr txBox="1"/>
          <p:nvPr/>
        </p:nvSpPr>
        <p:spPr>
          <a:xfrm>
            <a:off x="365760" y="3320760"/>
            <a:ext cx="8412480" cy="457200"/>
          </a:xfrm>
          <a:prstGeom prst="rect">
            <a:avLst/>
          </a:prstGeom>
          <a:noFill/>
        </p:spPr>
        <p:txBody>
          <a:bodyPr wrap="square" anchor="t">
            <a:spAutoFit/>
          </a:bodyPr>
          <a:lstStyle/>
          <a:p>
            <a:pPr algn="ctr"/>
            <a:r>
              <a:rPr sz="1700" b="1" dirty="0">
                <a:solidFill>
                  <a:srgbClr val="000000"/>
                </a:solidFill>
              </a:rPr>
              <a:t>Verification is tractable </a:t>
            </a:r>
            <a:r>
              <a:rPr sz="1700" b="1" dirty="0" err="1">
                <a:solidFill>
                  <a:srgbClr val="000000"/>
                </a:solidFill>
              </a:rPr>
              <a:t>iff</a:t>
            </a:r>
            <a:r>
              <a:rPr sz="1700" b="1" dirty="0">
                <a:solidFill>
                  <a:srgbClr val="000000"/>
                </a:solidFill>
              </a:rPr>
              <a:t>  (the model is small)  AND  (the decision surface is sparse).</a:t>
            </a:r>
          </a:p>
        </p:txBody>
      </p:sp>
      <p:sp>
        <p:nvSpPr>
          <p:cNvPr id="7" name="TextBox 6"/>
          <p:cNvSpPr txBox="1"/>
          <p:nvPr/>
        </p:nvSpPr>
        <p:spPr>
          <a:xfrm>
            <a:off x="365760" y="3869400"/>
            <a:ext cx="8412480" cy="457200"/>
          </a:xfrm>
          <a:prstGeom prst="rect">
            <a:avLst/>
          </a:prstGeom>
          <a:noFill/>
        </p:spPr>
        <p:txBody>
          <a:bodyPr wrap="square" anchor="t">
            <a:spAutoFit/>
          </a:bodyPr>
          <a:lstStyle/>
          <a:p>
            <a:pPr algn="ctr"/>
            <a:r>
              <a:rPr sz="1600" b="0">
                <a:solidFill>
                  <a:srgbClr val="555555"/>
                </a:solidFill>
              </a:rPr>
              <a:t>Our finding: the decision surface IS sparse.</a:t>
            </a:r>
          </a:p>
        </p:txBody>
      </p:sp>
      <p:sp>
        <p:nvSpPr>
          <p:cNvPr id="8" name="Rounded Rectangle 7"/>
          <p:cNvSpPr/>
          <p:nvPr/>
        </p:nvSpPr>
        <p:spPr>
          <a:xfrm>
            <a:off x="914400" y="4312350"/>
            <a:ext cx="7315200" cy="731520"/>
          </a:xfrm>
          <a:prstGeom prst="roundRect">
            <a:avLst/>
          </a:prstGeom>
          <a:solidFill>
            <a:srgbClr val="FFEE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wrap="square" lIns="60000" tIns="40000" rIns="60000" bIns="40000" rtlCol="0" anchor="ctr"/>
          <a:lstStyle/>
          <a:p>
            <a:pPr algn="ctr"/>
            <a:r>
              <a:rPr sz="1700" b="1">
                <a:solidFill>
                  <a:srgbClr val="CC0000"/>
                </a:solidFill>
              </a:rPr>
              <a:t>Compact AI is not just cheaper — it is the only AI that verification can reach.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33"/>
          <p:cNvPicPr preferRelativeResize="0"/>
          <p:nvPr/>
        </p:nvPicPr>
        <p:blipFill>
          <a:blip r:embed="rId3">
            <a:alphaModFix/>
          </a:blip>
          <a:stretch>
            <a:fillRect/>
          </a:stretch>
        </p:blipFill>
        <p:spPr>
          <a:xfrm>
            <a:off x="1313119" y="113323"/>
            <a:ext cx="6627312" cy="5030177"/>
          </a:xfrm>
          <a:prstGeom prst="rect">
            <a:avLst/>
          </a:prstGeom>
          <a:noFill/>
          <a:ln>
            <a:noFill/>
          </a:ln>
        </p:spPr>
      </p:pic>
      <p:sp>
        <p:nvSpPr>
          <p:cNvPr id="235" name="Google Shape;235;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34"/>
          <p:cNvPicPr preferRelativeResize="0"/>
          <p:nvPr/>
        </p:nvPicPr>
        <p:blipFill>
          <a:blip r:embed="rId3">
            <a:alphaModFix/>
          </a:blip>
          <a:stretch>
            <a:fillRect/>
          </a:stretch>
        </p:blipFill>
        <p:spPr>
          <a:xfrm>
            <a:off x="741361" y="706356"/>
            <a:ext cx="7773061" cy="4398924"/>
          </a:xfrm>
          <a:prstGeom prst="rect">
            <a:avLst/>
          </a:prstGeom>
          <a:noFill/>
          <a:ln>
            <a:noFill/>
          </a:ln>
        </p:spPr>
      </p:pic>
      <p:sp>
        <p:nvSpPr>
          <p:cNvPr id="241" name="Google Shape;24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
        <p:nvSpPr>
          <p:cNvPr id="242" name="Google Shape;242;p34"/>
          <p:cNvSpPr txBox="1"/>
          <p:nvPr/>
        </p:nvSpPr>
        <p:spPr>
          <a:xfrm>
            <a:off x="1724475" y="102362"/>
            <a:ext cx="54864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a:solidFill>
                  <a:srgbClr val="FF0000"/>
                </a:solidFill>
              </a:rPr>
              <a:t>Simplicity and Privacy</a:t>
            </a:r>
            <a:endParaRPr sz="2400" b="1">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48" name="Google Shape;248;p35"/>
          <p:cNvPicPr preferRelativeResize="0"/>
          <p:nvPr/>
        </p:nvPicPr>
        <p:blipFill>
          <a:blip r:embed="rId3">
            <a:alphaModFix/>
          </a:blip>
          <a:stretch>
            <a:fillRect/>
          </a:stretch>
        </p:blipFill>
        <p:spPr>
          <a:xfrm>
            <a:off x="258750" y="730552"/>
            <a:ext cx="8378549" cy="4311225"/>
          </a:xfrm>
          <a:prstGeom prst="rect">
            <a:avLst/>
          </a:prstGeom>
          <a:noFill/>
          <a:ln>
            <a:noFill/>
          </a:ln>
        </p:spPr>
      </p:pic>
      <p:sp>
        <p:nvSpPr>
          <p:cNvPr id="249" name="Google Shape;249;p35"/>
          <p:cNvSpPr txBox="1"/>
          <p:nvPr/>
        </p:nvSpPr>
        <p:spPr>
          <a:xfrm>
            <a:off x="1724475" y="102362"/>
            <a:ext cx="54864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a:solidFill>
                  <a:srgbClr val="FF0000"/>
                </a:solidFill>
              </a:rPr>
              <a:t>Rolling your own RAG (simpler)</a:t>
            </a:r>
            <a:endParaRPr sz="2400" b="1">
              <a:solidFill>
                <a:srgbClr val="FF0000"/>
              </a:solidFill>
            </a:endParaRPr>
          </a:p>
        </p:txBody>
      </p:sp>
      <p:sp>
        <p:nvSpPr>
          <p:cNvPr id="250" name="Google Shape;25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6"/>
          <p:cNvSpPr/>
          <p:nvPr/>
        </p:nvSpPr>
        <p:spPr>
          <a:xfrm>
            <a:off x="-105100" y="-152875"/>
            <a:ext cx="9373200" cy="5570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solidFill>
                  <a:schemeClr val="lt1"/>
                </a:solidFill>
              </a:rPr>
              <a:t>So much room for</a:t>
            </a:r>
            <a:endParaRPr>
              <a:solidFill>
                <a:schemeClr val="lt1"/>
              </a:solidFill>
            </a:endParaRPr>
          </a:p>
          <a:p>
            <a:pPr marL="0" lvl="0" indent="0" algn="ctr" rtl="0">
              <a:spcBef>
                <a:spcPts val="0"/>
              </a:spcBef>
              <a:spcAft>
                <a:spcPts val="0"/>
              </a:spcAft>
              <a:buNone/>
            </a:pPr>
            <a:r>
              <a:rPr lang="en">
                <a:solidFill>
                  <a:schemeClr val="lt1"/>
                </a:solidFill>
              </a:rPr>
              <a:t>explainable,  simpler, </a:t>
            </a:r>
            <a:br>
              <a:rPr lang="en">
                <a:solidFill>
                  <a:schemeClr val="lt1"/>
                </a:solidFill>
              </a:rPr>
            </a:br>
            <a:r>
              <a:rPr lang="en">
                <a:solidFill>
                  <a:schemeClr val="lt1"/>
                </a:solidFill>
              </a:rPr>
              <a:t>faster AI</a:t>
            </a:r>
            <a:endParaRPr>
              <a:solidFill>
                <a:schemeClr val="lt1"/>
              </a:solidFill>
            </a:endParaRPr>
          </a:p>
        </p:txBody>
      </p:sp>
      <p:sp>
        <p:nvSpPr>
          <p:cNvPr id="257" name="Google Shape;257;p36"/>
          <p:cNvSpPr txBox="1">
            <a:spLocks noGrp="1"/>
          </p:cNvSpPr>
          <p:nvPr>
            <p:ph type="subTitle" idx="1"/>
          </p:nvPr>
        </p:nvSpPr>
        <p:spPr>
          <a:xfrm>
            <a:off x="321200" y="38087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lt1"/>
                </a:solidFill>
              </a:rPr>
              <a:t>Meanwhile, the world has gone mad on complexity</a:t>
            </a:r>
            <a:endParaRPr>
              <a:solidFill>
                <a:schemeClr val="lt1"/>
              </a:solidFill>
            </a:endParaRPr>
          </a:p>
        </p:txBody>
      </p:sp>
      <p:sp>
        <p:nvSpPr>
          <p:cNvPr id="258" name="Google Shape;258;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64" name="Google Shape;264;p3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65" name="Google Shape;265;p37"/>
          <p:cNvPicPr preferRelativeResize="0"/>
          <p:nvPr/>
        </p:nvPicPr>
        <p:blipFill>
          <a:blip r:embed="rId3">
            <a:alphaModFix/>
          </a:blip>
          <a:stretch>
            <a:fillRect/>
          </a:stretch>
        </p:blipFill>
        <p:spPr>
          <a:xfrm>
            <a:off x="0" y="106456"/>
            <a:ext cx="9143999" cy="4930588"/>
          </a:xfrm>
          <a:prstGeom prst="rect">
            <a:avLst/>
          </a:prstGeom>
          <a:noFill/>
          <a:ln>
            <a:noFill/>
          </a:ln>
        </p:spPr>
      </p:pic>
      <p:sp>
        <p:nvSpPr>
          <p:cNvPr id="266" name="Google Shape;266;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72" name="Google Shape;272;p3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73" name="Google Shape;273;p38"/>
          <p:cNvPicPr preferRelativeResize="0"/>
          <p:nvPr/>
        </p:nvPicPr>
        <p:blipFill>
          <a:blip r:embed="rId3">
            <a:alphaModFix/>
          </a:blip>
          <a:stretch>
            <a:fillRect/>
          </a:stretch>
        </p:blipFill>
        <p:spPr>
          <a:xfrm>
            <a:off x="4233" y="2626"/>
            <a:ext cx="9144000" cy="5083215"/>
          </a:xfrm>
          <a:prstGeom prst="rect">
            <a:avLst/>
          </a:prstGeom>
          <a:noFill/>
          <a:ln>
            <a:noFill/>
          </a:ln>
        </p:spPr>
      </p:pic>
      <p:sp>
        <p:nvSpPr>
          <p:cNvPr id="274" name="Google Shape;27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9"/>
          <p:cNvSpPr txBox="1">
            <a:spLocks noGrp="1"/>
          </p:cNvSpPr>
          <p:nvPr>
            <p:ph type="subTitle" idx="1"/>
          </p:nvPr>
        </p:nvSpPr>
        <p:spPr>
          <a:xfrm>
            <a:off x="403775" y="909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600" b="1">
                <a:solidFill>
                  <a:srgbClr val="FF0000"/>
                </a:solidFill>
              </a:rPr>
              <a:t>Vibe effects</a:t>
            </a:r>
            <a:endParaRPr sz="3600" b="1">
              <a:solidFill>
                <a:srgbClr val="FF0000"/>
              </a:solidFill>
            </a:endParaRPr>
          </a:p>
        </p:txBody>
      </p:sp>
      <p:pic>
        <p:nvPicPr>
          <p:cNvPr id="280" name="Google Shape;280;p39"/>
          <p:cNvPicPr preferRelativeResize="0"/>
          <p:nvPr/>
        </p:nvPicPr>
        <p:blipFill>
          <a:blip r:embed="rId3">
            <a:alphaModFix/>
          </a:blip>
          <a:stretch>
            <a:fillRect/>
          </a:stretch>
        </p:blipFill>
        <p:spPr>
          <a:xfrm>
            <a:off x="1187759" y="678394"/>
            <a:ext cx="6606351" cy="4503325"/>
          </a:xfrm>
          <a:prstGeom prst="rect">
            <a:avLst/>
          </a:prstGeom>
          <a:noFill/>
          <a:ln>
            <a:noFill/>
          </a:ln>
        </p:spPr>
      </p:pic>
      <p:sp>
        <p:nvSpPr>
          <p:cNvPr id="281" name="Google Shape;28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287" name="Google Shape;287;p4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288" name="Google Shape;288;p40"/>
          <p:cNvPicPr preferRelativeResize="0"/>
          <p:nvPr/>
        </p:nvPicPr>
        <p:blipFill>
          <a:blip r:embed="rId3">
            <a:alphaModFix/>
          </a:blip>
          <a:stretch>
            <a:fillRect/>
          </a:stretch>
        </p:blipFill>
        <p:spPr>
          <a:xfrm>
            <a:off x="0" y="293855"/>
            <a:ext cx="9144000" cy="4460240"/>
          </a:xfrm>
          <a:prstGeom prst="rect">
            <a:avLst/>
          </a:prstGeom>
          <a:noFill/>
          <a:ln>
            <a:noFill/>
          </a:ln>
        </p:spPr>
      </p:pic>
      <p:sp>
        <p:nvSpPr>
          <p:cNvPr id="289" name="Google Shape;289;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1"/>
          <p:cNvSpPr txBox="1">
            <a:spLocks noGrp="1"/>
          </p:cNvSpPr>
          <p:nvPr>
            <p:ph type="ctrTitle"/>
          </p:nvPr>
        </p:nvSpPr>
        <p:spPr>
          <a:xfrm>
            <a:off x="394933" y="2688955"/>
            <a:ext cx="8520600" cy="2052600"/>
          </a:xfrm>
          <a:prstGeom prst="rect">
            <a:avLst/>
          </a:prstGeom>
        </p:spPr>
        <p:txBody>
          <a:bodyPr spcFirstLastPara="1" wrap="square" lIns="91425" tIns="91425" rIns="91425" bIns="91425" anchor="b" anchorCtr="0">
            <a:noAutofit/>
          </a:bodyPr>
          <a:lstStyle/>
          <a:p>
            <a:pPr marL="0" lvl="0" indent="0" algn="l" rtl="0">
              <a:lnSpc>
                <a:spcPct val="115000"/>
              </a:lnSpc>
              <a:spcBef>
                <a:spcPts val="1200"/>
              </a:spcBef>
              <a:spcAft>
                <a:spcPts val="0"/>
              </a:spcAft>
              <a:buClr>
                <a:schemeClr val="dk1"/>
              </a:buClr>
              <a:buSzPts val="990"/>
              <a:buFont typeface="Arial"/>
              <a:buNone/>
            </a:pPr>
            <a:r>
              <a:rPr lang="en" sz="1390"/>
              <a:t>Critiquing AI doesn't mean I hate it; it means I'm demanding </a:t>
            </a:r>
            <a:r>
              <a:rPr lang="en" sz="1390" b="1">
                <a:solidFill>
                  <a:srgbClr val="FF0000"/>
                </a:solidFill>
              </a:rPr>
              <a:t>better</a:t>
            </a:r>
            <a:r>
              <a:rPr lang="en" sz="1390"/>
              <a:t>, more responsible science. Are we suffering from a collective syndrome? Hype has replaced critical thinking? Barming both our environment and </a:t>
            </a:r>
            <a:r>
              <a:rPr lang="en" sz="1390" b="1">
                <a:solidFill>
                  <a:srgbClr val="FF0000"/>
                </a:solidFill>
              </a:rPr>
              <a:t>scientific</a:t>
            </a:r>
            <a:r>
              <a:rPr lang="en" sz="1390"/>
              <a:t> process.</a:t>
            </a:r>
            <a:endParaRPr sz="1390" b="1"/>
          </a:p>
          <a:p>
            <a:pPr marL="457200" lvl="0" indent="-316865" algn="l" rtl="0">
              <a:lnSpc>
                <a:spcPct val="115000"/>
              </a:lnSpc>
              <a:spcBef>
                <a:spcPts val="1200"/>
              </a:spcBef>
              <a:spcAft>
                <a:spcPts val="0"/>
              </a:spcAft>
              <a:buSzPts val="1390"/>
              <a:buChar char="●"/>
            </a:pPr>
            <a:r>
              <a:rPr lang="en" sz="1390" b="1"/>
              <a:t>The Illusion of Choice:</a:t>
            </a:r>
            <a:r>
              <a:rPr lang="en" sz="1390"/>
              <a:t> Are we onditioned to believe massive, expensive </a:t>
            </a:r>
            <a:r>
              <a:rPr lang="en" sz="1390" b="1">
                <a:solidFill>
                  <a:srgbClr val="FF0000"/>
                </a:solidFill>
              </a:rPr>
              <a:t>LLMs are the only option</a:t>
            </a:r>
            <a:r>
              <a:rPr lang="en" sz="1390"/>
              <a:t>. Highly efficient, local alternatives exist are missing from   public discourse. Some  campaign to lock us into corporate ecosystem?.</a:t>
            </a:r>
            <a:endParaRPr sz="1390"/>
          </a:p>
          <a:p>
            <a:pPr marL="457200" lvl="0" indent="-316865" algn="l" rtl="0">
              <a:lnSpc>
                <a:spcPct val="115000"/>
              </a:lnSpc>
              <a:spcBef>
                <a:spcPts val="0"/>
              </a:spcBef>
              <a:spcAft>
                <a:spcPts val="0"/>
              </a:spcAft>
              <a:buSzPts val="1390"/>
              <a:buChar char="●"/>
            </a:pPr>
            <a:r>
              <a:rPr lang="en" sz="1390" b="1"/>
              <a:t>The Cost to Science:</a:t>
            </a:r>
            <a:r>
              <a:rPr lang="en" sz="1390"/>
              <a:t> True science requires </a:t>
            </a:r>
            <a:r>
              <a:rPr lang="en" sz="1390" b="1">
                <a:solidFill>
                  <a:srgbClr val="FF0000"/>
                </a:solidFill>
              </a:rPr>
              <a:t>reproducible</a:t>
            </a:r>
            <a:r>
              <a:rPr lang="en" sz="1390"/>
              <a:t> experiments. When only a few mega-corporations have the money and compute power to run tests, independent research is effectively dead.</a:t>
            </a:r>
            <a:endParaRPr sz="1390"/>
          </a:p>
          <a:p>
            <a:pPr marL="457200" lvl="0" indent="-316865" algn="l" rtl="0">
              <a:lnSpc>
                <a:spcPct val="115000"/>
              </a:lnSpc>
              <a:spcBef>
                <a:spcPts val="0"/>
              </a:spcBef>
              <a:spcAft>
                <a:spcPts val="0"/>
              </a:spcAft>
              <a:buSzPts val="1390"/>
              <a:buChar char="●"/>
            </a:pPr>
            <a:r>
              <a:rPr lang="en" sz="1390" b="1"/>
              <a:t>The Environmental Blind Spot:</a:t>
            </a:r>
            <a:r>
              <a:rPr lang="en" sz="1390"/>
              <a:t> irresponsible to accept the massive energy consumption of LLMs as the "cost of doing business" instead of </a:t>
            </a:r>
            <a:r>
              <a:rPr lang="en" sz="1390" b="1">
                <a:solidFill>
                  <a:srgbClr val="FF0000"/>
                </a:solidFill>
              </a:rPr>
              <a:t>actively discussing how to reduce it.</a:t>
            </a:r>
            <a:endParaRPr sz="1390"/>
          </a:p>
          <a:p>
            <a:pPr marL="457200" lvl="0" indent="-316865" algn="l" rtl="0">
              <a:lnSpc>
                <a:spcPct val="115000"/>
              </a:lnSpc>
              <a:spcBef>
                <a:spcPts val="0"/>
              </a:spcBef>
              <a:spcAft>
                <a:spcPts val="0"/>
              </a:spcAft>
              <a:buSzPts val="1390"/>
              <a:buChar char="●"/>
            </a:pPr>
            <a:r>
              <a:rPr lang="en" sz="1390" b="1"/>
              <a:t>The Syndrome of Hype:</a:t>
            </a:r>
            <a:r>
              <a:rPr lang="en" sz="1390"/>
              <a:t> Our failure to routinely question the massive failure rates, black-box designs, and staggering costs of these models is a </a:t>
            </a:r>
            <a:r>
              <a:rPr lang="en" sz="1390" b="1">
                <a:solidFill>
                  <a:srgbClr val="FF0000"/>
                </a:solidFill>
              </a:rPr>
              <a:t>symptom</a:t>
            </a:r>
            <a:r>
              <a:rPr lang="en" sz="1390"/>
              <a:t> of blind consumerism over rigorous engineering.</a:t>
            </a:r>
            <a:endParaRPr sz="1390"/>
          </a:p>
          <a:p>
            <a:pPr marL="0" lvl="0" indent="0" algn="l" rtl="0">
              <a:lnSpc>
                <a:spcPct val="115000"/>
              </a:lnSpc>
              <a:spcBef>
                <a:spcPts val="1200"/>
              </a:spcBef>
              <a:spcAft>
                <a:spcPts val="1200"/>
              </a:spcAft>
              <a:buSzPts val="990"/>
              <a:buNone/>
            </a:pPr>
            <a:r>
              <a:rPr lang="en" sz="1390"/>
              <a:t>Advocating for transparent, efficient, and accessible AI isn't anti-progress. It’s about </a:t>
            </a:r>
            <a:r>
              <a:rPr lang="en" sz="1390" b="1">
                <a:solidFill>
                  <a:srgbClr val="FF0000"/>
                </a:solidFill>
              </a:rPr>
              <a:t>taking back control </a:t>
            </a:r>
            <a:r>
              <a:rPr lang="en" sz="1390"/>
              <a:t>and ensuring </a:t>
            </a:r>
            <a:r>
              <a:rPr lang="en" sz="1390" b="1">
                <a:solidFill>
                  <a:srgbClr val="FF0000"/>
                </a:solidFill>
              </a:rPr>
              <a:t>technology empowers</a:t>
            </a:r>
            <a:r>
              <a:rPr lang="en" sz="1390"/>
              <a:t> everyone, rather than draining our natural resources and scientific integrity to enrich a few.</a:t>
            </a:r>
            <a:endParaRPr sz="5080"/>
          </a:p>
        </p:txBody>
      </p:sp>
      <p:sp>
        <p:nvSpPr>
          <p:cNvPr id="295" name="Google Shape;295;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42"/>
          <p:cNvPicPr preferRelativeResize="0"/>
          <p:nvPr/>
        </p:nvPicPr>
        <p:blipFill>
          <a:blip r:embed="rId3">
            <a:alphaModFix/>
          </a:blip>
          <a:stretch>
            <a:fillRect/>
          </a:stretch>
        </p:blipFill>
        <p:spPr>
          <a:xfrm>
            <a:off x="1981721" y="2902383"/>
            <a:ext cx="5364502" cy="1970384"/>
          </a:xfrm>
          <a:prstGeom prst="rect">
            <a:avLst/>
          </a:prstGeom>
          <a:noFill/>
          <a:ln>
            <a:noFill/>
          </a:ln>
        </p:spPr>
      </p:pic>
      <p:pic>
        <p:nvPicPr>
          <p:cNvPr id="301" name="Google Shape;301;p42" descr="Introduction to the Gartner Hype Cycle – BMC Software | Blogs"/>
          <p:cNvPicPr preferRelativeResize="0"/>
          <p:nvPr/>
        </p:nvPicPr>
        <p:blipFill>
          <a:blip r:embed="rId4">
            <a:alphaModFix/>
          </a:blip>
          <a:stretch>
            <a:fillRect/>
          </a:stretch>
        </p:blipFill>
        <p:spPr>
          <a:xfrm>
            <a:off x="2875488" y="200073"/>
            <a:ext cx="3393035" cy="2259050"/>
          </a:xfrm>
          <a:prstGeom prst="rect">
            <a:avLst/>
          </a:prstGeom>
          <a:noFill/>
          <a:ln>
            <a:noFill/>
          </a:ln>
        </p:spPr>
      </p:pic>
      <p:sp>
        <p:nvSpPr>
          <p:cNvPr id="302" name="Google Shape;302;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grpSp>
        <p:nvGrpSpPr>
          <p:cNvPr id="307" name="Google Shape;307;p43"/>
          <p:cNvGrpSpPr/>
          <p:nvPr/>
        </p:nvGrpSpPr>
        <p:grpSpPr>
          <a:xfrm>
            <a:off x="3643785" y="646093"/>
            <a:ext cx="5261540" cy="4277389"/>
            <a:chOff x="152400" y="358346"/>
            <a:chExt cx="4987241" cy="4054397"/>
          </a:xfrm>
        </p:grpSpPr>
        <p:pic>
          <p:nvPicPr>
            <p:cNvPr id="308" name="Google Shape;308;p43"/>
            <p:cNvPicPr preferRelativeResize="0"/>
            <p:nvPr/>
          </p:nvPicPr>
          <p:blipFill>
            <a:blip r:embed="rId3">
              <a:alphaModFix/>
            </a:blip>
            <a:stretch>
              <a:fillRect/>
            </a:stretch>
          </p:blipFill>
          <p:spPr>
            <a:xfrm>
              <a:off x="952767" y="3297893"/>
              <a:ext cx="4186874" cy="1114850"/>
            </a:xfrm>
            <a:prstGeom prst="rect">
              <a:avLst/>
            </a:prstGeom>
            <a:noFill/>
            <a:ln>
              <a:noFill/>
            </a:ln>
            <a:effectLst>
              <a:outerShdw blurRad="60297" dist="200988" dir="2880000" algn="bl" rotWithShape="0">
                <a:srgbClr val="000000">
                  <a:alpha val="50000"/>
                </a:srgbClr>
              </a:outerShdw>
            </a:effectLst>
          </p:spPr>
        </p:pic>
        <p:pic>
          <p:nvPicPr>
            <p:cNvPr id="309" name="Google Shape;309;p43"/>
            <p:cNvPicPr preferRelativeResize="0"/>
            <p:nvPr/>
          </p:nvPicPr>
          <p:blipFill>
            <a:blip r:embed="rId4">
              <a:alphaModFix/>
            </a:blip>
            <a:stretch>
              <a:fillRect/>
            </a:stretch>
          </p:blipFill>
          <p:spPr>
            <a:xfrm>
              <a:off x="712124" y="1559462"/>
              <a:ext cx="3428200" cy="1761724"/>
            </a:xfrm>
            <a:prstGeom prst="rect">
              <a:avLst/>
            </a:prstGeom>
            <a:noFill/>
            <a:ln>
              <a:noFill/>
            </a:ln>
            <a:effectLst>
              <a:outerShdw blurRad="60297" dist="251235" dir="2340000" algn="bl" rotWithShape="0">
                <a:srgbClr val="000000">
                  <a:alpha val="50000"/>
                </a:srgbClr>
              </a:outerShdw>
            </a:effectLst>
          </p:spPr>
        </p:pic>
        <p:pic>
          <p:nvPicPr>
            <p:cNvPr id="310" name="Google Shape;310;p43"/>
            <p:cNvPicPr preferRelativeResize="0"/>
            <p:nvPr/>
          </p:nvPicPr>
          <p:blipFill>
            <a:blip r:embed="rId5">
              <a:alphaModFix/>
            </a:blip>
            <a:stretch>
              <a:fillRect/>
            </a:stretch>
          </p:blipFill>
          <p:spPr>
            <a:xfrm>
              <a:off x="152400" y="358346"/>
              <a:ext cx="3615726" cy="1525150"/>
            </a:xfrm>
            <a:prstGeom prst="rect">
              <a:avLst/>
            </a:prstGeom>
            <a:noFill/>
            <a:ln>
              <a:noFill/>
            </a:ln>
            <a:effectLst>
              <a:outerShdw blurRad="60297" dist="180890" dir="2580000" algn="bl" rotWithShape="0">
                <a:srgbClr val="000000">
                  <a:alpha val="64999"/>
                </a:srgbClr>
              </a:outerShdw>
            </a:effectLst>
          </p:spPr>
        </p:pic>
      </p:grpSp>
      <p:sp>
        <p:nvSpPr>
          <p:cNvPr id="311" name="Google Shape;311;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sp>
        <p:nvSpPr>
          <p:cNvPr id="312" name="Google Shape;312;p43"/>
          <p:cNvSpPr txBox="1">
            <a:spLocks noGrp="1"/>
          </p:cNvSpPr>
          <p:nvPr>
            <p:ph type="subTitle" idx="1"/>
          </p:nvPr>
        </p:nvSpPr>
        <p:spPr>
          <a:xfrm>
            <a:off x="403775" y="-43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600" b="1">
                <a:solidFill>
                  <a:srgbClr val="FF0000"/>
                </a:solidFill>
              </a:rPr>
              <a:t>Butlerian Jihad</a:t>
            </a:r>
            <a:endParaRPr sz="3600" b="1">
              <a:solidFill>
                <a:srgbClr val="FF0000"/>
              </a:solidFill>
            </a:endParaRPr>
          </a:p>
        </p:txBody>
      </p:sp>
      <p:pic>
        <p:nvPicPr>
          <p:cNvPr id="313" name="Google Shape;313;p43"/>
          <p:cNvPicPr preferRelativeResize="0"/>
          <p:nvPr/>
        </p:nvPicPr>
        <p:blipFill>
          <a:blip r:embed="rId6">
            <a:alphaModFix/>
          </a:blip>
          <a:stretch>
            <a:fillRect/>
          </a:stretch>
        </p:blipFill>
        <p:spPr>
          <a:xfrm>
            <a:off x="270050" y="883525"/>
            <a:ext cx="2932949" cy="38943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4"/>
          <p:cNvSpPr txBox="1">
            <a:spLocks noGrp="1"/>
          </p:cNvSpPr>
          <p:nvPr>
            <p:ph type="ctrTitle"/>
          </p:nvPr>
        </p:nvSpPr>
        <p:spPr>
          <a:xfrm>
            <a:off x="311708" y="1383397"/>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Agentic software? </a:t>
            </a:r>
            <a:r>
              <a:rPr lang="en" b="1">
                <a:solidFill>
                  <a:srgbClr val="FF0000"/>
                </a:solidFill>
              </a:rPr>
              <a:t>Sure!</a:t>
            </a:r>
            <a:endParaRPr b="1">
              <a:solidFill>
                <a:srgbClr val="FF0000"/>
              </a:solidFill>
            </a:endParaRPr>
          </a:p>
        </p:txBody>
      </p:sp>
      <p:sp>
        <p:nvSpPr>
          <p:cNvPr id="319" name="Google Shape;319;p44"/>
          <p:cNvSpPr txBox="1">
            <a:spLocks noGrp="1"/>
          </p:cNvSpPr>
          <p:nvPr>
            <p:ph type="subTitle" idx="1"/>
          </p:nvPr>
        </p:nvSpPr>
        <p:spPr>
          <a:xfrm>
            <a:off x="500550" y="3344202"/>
            <a:ext cx="8520600" cy="1671900"/>
          </a:xfrm>
          <a:prstGeom prst="rect">
            <a:avLst/>
          </a:prstGeom>
        </p:spPr>
        <p:txBody>
          <a:bodyPr spcFirstLastPara="1" wrap="square" lIns="91425" tIns="91425" rIns="91425" bIns="91425" anchor="t" anchorCtr="0">
            <a:normAutofit lnSpcReduction="20000"/>
          </a:bodyPr>
          <a:lstStyle/>
          <a:p>
            <a:pPr marL="0" lvl="0" indent="0" algn="ctr" rtl="0">
              <a:spcBef>
                <a:spcPts val="0"/>
              </a:spcBef>
              <a:spcAft>
                <a:spcPts val="0"/>
              </a:spcAft>
              <a:buNone/>
            </a:pPr>
            <a:r>
              <a:rPr lang="en" sz="4327"/>
              <a:t>All agents LLMs? </a:t>
            </a:r>
            <a:r>
              <a:rPr lang="en" sz="4277" b="1">
                <a:solidFill>
                  <a:srgbClr val="FF0000"/>
                </a:solidFill>
              </a:rPr>
              <a:t>No!</a:t>
            </a:r>
            <a:br>
              <a:rPr lang="en" sz="4277" b="1">
                <a:solidFill>
                  <a:srgbClr val="FF0000"/>
                </a:solidFill>
              </a:rPr>
            </a:br>
            <a:endParaRPr sz="4277" b="1">
              <a:solidFill>
                <a:srgbClr val="FF0000"/>
              </a:solidFill>
            </a:endParaRPr>
          </a:p>
          <a:p>
            <a:pPr marL="0" lvl="0" indent="0" algn="ctr" rtl="0">
              <a:spcBef>
                <a:spcPts val="0"/>
              </a:spcBef>
              <a:spcAft>
                <a:spcPts val="0"/>
              </a:spcAft>
              <a:buNone/>
            </a:pPr>
            <a:r>
              <a:rPr lang="en" sz="2750">
                <a:solidFill>
                  <a:schemeClr val="dk1"/>
                </a:solidFill>
              </a:rPr>
              <a:t>Questions? Comments?</a:t>
            </a:r>
            <a:endParaRPr sz="2750">
              <a:solidFill>
                <a:schemeClr val="dk1"/>
              </a:solidFill>
            </a:endParaRPr>
          </a:p>
        </p:txBody>
      </p:sp>
      <p:pic>
        <p:nvPicPr>
          <p:cNvPr id="320" name="Google Shape;320;p44"/>
          <p:cNvPicPr preferRelativeResize="0"/>
          <p:nvPr/>
        </p:nvPicPr>
        <p:blipFill>
          <a:blip r:embed="rId3">
            <a:alphaModFix/>
          </a:blip>
          <a:stretch>
            <a:fillRect/>
          </a:stretch>
        </p:blipFill>
        <p:spPr>
          <a:xfrm>
            <a:off x="3607539" y="64470"/>
            <a:ext cx="1871311" cy="2497725"/>
          </a:xfrm>
          <a:prstGeom prst="rect">
            <a:avLst/>
          </a:prstGeom>
          <a:noFill/>
          <a:ln>
            <a:noFill/>
          </a:ln>
        </p:spPr>
      </p:pic>
      <p:sp>
        <p:nvSpPr>
          <p:cNvPr id="321" name="Google Shape;32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1207</Words>
  <Application>Microsoft Macintosh PowerPoint</Application>
  <PresentationFormat>On-screen Show (16:9)</PresentationFormat>
  <Paragraphs>181</Paragraphs>
  <Slides>36</Slides>
  <Notes>32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36</vt:i4>
      </vt:variant>
    </vt:vector>
  </HeadingPairs>
  <TitlesOfParts>
    <vt:vector size="38" baseType="lpstr">
      <vt:lpstr>Arial</vt:lpstr>
      <vt:lpstr>Simple Light</vt:lpstr>
      <vt:lpstr>Agentic software? Sure!</vt:lpstr>
      <vt:lpstr>We have been here before</vt:lpstr>
      <vt:lpstr>PowerPoint Presentation</vt:lpstr>
      <vt:lpstr>PowerPoint Presentation</vt:lpstr>
      <vt:lpstr>I believe LLMs  are cool</vt:lpstr>
      <vt:lpstr>PowerPoint Presentation</vt:lpstr>
      <vt:lpstr>PowerPoint Presentation</vt:lpstr>
      <vt:lpstr>PowerPoint Presentation</vt:lpstr>
      <vt:lpstr>PowerPoint Presentation</vt:lpstr>
      <vt:lpstr>Large scale studies  of AI in SE</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So why do my trees  work so well?</vt:lpstr>
      <vt:lpstr>PowerPoint Presentation</vt:lpstr>
      <vt:lpstr>PowerPoint Presentation</vt:lpstr>
      <vt:lpstr>PowerPoint Presentation</vt:lpstr>
      <vt:lpstr>Q: Why not  seen before?</vt:lpstr>
      <vt:lpstr>PowerPoint Presentation</vt:lpstr>
      <vt:lpstr>PowerPoint Presentation</vt:lpstr>
      <vt:lpstr>PowerPoint Presentation</vt:lpstr>
      <vt:lpstr>PowerPoint Presentation</vt:lpstr>
      <vt:lpstr>So much room for explainable,  simpler,  faster AI</vt:lpstr>
      <vt:lpstr>PowerPoint Presentation</vt:lpstr>
      <vt:lpstr>PowerPoint Presentation</vt:lpstr>
      <vt:lpstr>PowerPoint Presentation</vt:lpstr>
      <vt:lpstr>PowerPoint Presentation</vt:lpstr>
      <vt:lpstr>Critiquing AI doesn't mean I hate it; it means I'm demanding better, more responsible science. Are we suffering from a collective syndrome? Hype has replaced critical thinking? Barming both our environment and scientific process. The Illusion of Choice: Are we onditioned to believe massive, expensive LLMs are the only option. Highly efficient, local alternatives exist are missing from   public discourse. Some  campaign to lock us into corporate ecosystem?. The Cost to Science: True science requires reproducible experiments. When only a few mega-corporations have the money and compute power to run tests, independent research is effectively dead. The Environmental Blind Spot: irresponsible to accept the massive energy consumption of LLMs as the "cost of doing business" instead of actively discussing how to reduce it. The Syndrome of Hype: Our failure to routinely question the massive failure rates, black-box designs, and staggering costs of these models is a symptom of blind consumerism over rigorous engineering. Advocating for transparent, efficient, and accessible AI isn't anti-progress. It’s about taking back control and ensuring technology empowers everyone, rather than draining our natural resources and scientific integrity to enrich a few.</vt:lpstr>
      <vt:lpstr>PowerPoint Presentation</vt:lpstr>
      <vt:lpstr>PowerPoint Presentation</vt:lpstr>
      <vt:lpstr>Agentic software? Sure!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Timothy James Menzies</cp:lastModifiedBy>
  <cp:revision>1</cp:revision>
  <dcterms:modified xsi:type="dcterms:W3CDTF">2026-04-20T19:24:34Z</dcterms:modified>
</cp:coreProperties>
</file>